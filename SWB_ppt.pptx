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68" r:id="rId3"/>
    <p:sldId id="257" r:id="rId4"/>
    <p:sldId id="258" r:id="rId5"/>
    <p:sldId id="259" r:id="rId6"/>
    <p:sldId id="266" r:id="rId7"/>
    <p:sldId id="270" r:id="rId8"/>
    <p:sldId id="273" r:id="rId9"/>
    <p:sldId id="275" r:id="rId10"/>
    <p:sldId id="271" r:id="rId11"/>
    <p:sldId id="272" r:id="rId12"/>
    <p:sldId id="260" r:id="rId13"/>
    <p:sldId id="261" r:id="rId14"/>
    <p:sldId id="278" r:id="rId15"/>
    <p:sldId id="279" r:id="rId16"/>
    <p:sldId id="264" r:id="rId17"/>
    <p:sldId id="265"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7BBC56-8A09-445C-AA24-04E6216B2F19}" v="1" dt="2025-03-18T16:28:27.6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0:55.411"/>
    </inkml:context>
    <inkml:brush xml:id="br0">
      <inkml:brushProperty name="width" value="0.025" units="cm"/>
      <inkml:brushProperty name="height" value="0.025" units="cm"/>
    </inkml:brush>
  </inkml:definitions>
  <inkml:trace contextRef="#ctx0" brushRef="#br0">0 1 24575,'902'0'-1365,"-878"0"-5461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01.249"/>
    </inkml:context>
    <inkml:brush xml:id="br0">
      <inkml:brushProperty name="width" value="0.025" units="cm"/>
      <inkml:brushProperty name="height" value="0.025" units="cm"/>
    </inkml:brush>
  </inkml:definitions>
  <inkml:trace contextRef="#ctx0" brushRef="#br0">1 1 24575,'4'0'0,"0"0"0,0 1 0,0-1 0,0 1 0,-1 0 0,1 0 0,0 0 0,0 1 0,-1-1 0,1 1 0,-1 0 0,1 0 0,4 4 0,2 2 0,-2 1 0,1-1 0,7 12 0,-10-12 0,0 0 0,1-1 0,0 0 0,0 0 0,15 10 0,106 56 0,-67-38-1365,-45-26-5461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03.822"/>
    </inkml:context>
    <inkml:brush xml:id="br0">
      <inkml:brushProperty name="width" value="0.025" units="cm"/>
      <inkml:brushProperty name="height" value="0.025" units="cm"/>
    </inkml:brush>
  </inkml:definitions>
  <inkml:trace contextRef="#ctx0" brushRef="#br0">381 1 24575,'-13'0'0,"0"0"0,0 1 0,0 0 0,0 1 0,0 0 0,0 1 0,0 1 0,1 0 0,-1 1 0,1 0 0,0 1 0,1 0 0,-16 11 0,-8 9 0,9-7 0,0 1 0,-24 26 0,16-16-1365,16-19-5461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10.783"/>
    </inkml:context>
    <inkml:brush xml:id="br0">
      <inkml:brushProperty name="width" value="0.025" units="cm"/>
      <inkml:brushProperty name="height" value="0.025" units="cm"/>
    </inkml:brush>
  </inkml:definitions>
  <inkml:trace contextRef="#ctx0" brushRef="#br0">1 28 22663,'2048'-28'0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14.205"/>
    </inkml:context>
    <inkml:brush xml:id="br0">
      <inkml:brushProperty name="width" value="0.025" units="cm"/>
      <inkml:brushProperty name="height" value="0.025" units="cm"/>
    </inkml:brush>
  </inkml:definitions>
  <inkml:trace contextRef="#ctx0" brushRef="#br0">1 1 24575,'0'765'-1365,"0"-742"-5461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16.807"/>
    </inkml:context>
    <inkml:brush xml:id="br0">
      <inkml:brushProperty name="width" value="0.025" units="cm"/>
      <inkml:brushProperty name="height" value="0.025" units="cm"/>
    </inkml:brush>
  </inkml:definitions>
  <inkml:trace contextRef="#ctx0" brushRef="#br0">264 0 24575,'-6'1'0,"1"0"0,-1 0 0,1 0 0,0 1 0,-1 0 0,1 0 0,0 0 0,0 1 0,0-1 0,1 1 0,-1 0 0,1 1 0,0-1 0,-6 7 0,2-3 0,1 0 0,1 1 0,0-1 0,0 2 0,0-1 0,1 0 0,-5 12 0,0-1 17,0 1 0,-2-1 0,0-1 0,-19 23 0,-13 17-1467,34-41-5376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18.662"/>
    </inkml:context>
    <inkml:brush xml:id="br0">
      <inkml:brushProperty name="width" value="0.025" units="cm"/>
      <inkml:brushProperty name="height" value="0.025" units="cm"/>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7:41:19.653"/>
    </inkml:context>
    <inkml:brush xml:id="br0">
      <inkml:brushProperty name="width" value="0.025" units="cm"/>
      <inkml:brushProperty name="height" value="0.025" units="cm"/>
    </inkml:brush>
  </inkml:definitions>
  <inkml:trace contextRef="#ctx0" brushRef="#br0">1 0 24575,'1'4'0,"1"1"0,0-1 0,0 0 0,0 0 0,0-1 0,1 1 0,-1 0 0,1-1 0,0 1 0,0-1 0,0 0 0,5 4 0,1 1 0,36 33 0,-30-28 0,-1 0 0,13 15 0,-20-20 0,6 8 0,0 0 0,1-1 0,0-1 0,1-1 0,19 14 0,-30-25-195,0 1 0,-1 0 0,1 0 0,-1 0 0,0 0 0,4 5 0,3 6-6631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5B1CC-5401-4376-B2CA-14E52D4BA4B1}" type="datetimeFigureOut">
              <a:rPr lang="en-IN" smtClean="0"/>
              <a:t>16-05-2025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DBE4FE-753F-429C-9AEA-81424CBAD467}" type="slidenum">
              <a:rPr lang="en-IN" smtClean="0"/>
              <a:t>‹#›</a:t>
            </a:fld>
            <a:endParaRPr lang="en-IN"/>
          </a:p>
        </p:txBody>
      </p:sp>
    </p:spTree>
    <p:extLst>
      <p:ext uri="{BB962C8B-B14F-4D97-AF65-F5344CB8AC3E}">
        <p14:creationId xmlns:p14="http://schemas.microsoft.com/office/powerpoint/2010/main" val="229238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BE4FE-753F-429C-9AEA-81424CBAD467}" type="slidenum">
              <a:rPr lang="en-IN" smtClean="0"/>
              <a:t>1</a:t>
            </a:fld>
            <a:endParaRPr lang="en-IN"/>
          </a:p>
        </p:txBody>
      </p:sp>
    </p:spTree>
    <p:extLst>
      <p:ext uri="{BB962C8B-B14F-4D97-AF65-F5344CB8AC3E}">
        <p14:creationId xmlns:p14="http://schemas.microsoft.com/office/powerpoint/2010/main" val="106817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BE4FE-753F-429C-9AEA-81424CBAD467}" type="slidenum">
              <a:rPr lang="en-IN" smtClean="0"/>
              <a:t>2</a:t>
            </a:fld>
            <a:endParaRPr lang="en-IN"/>
          </a:p>
        </p:txBody>
      </p:sp>
    </p:spTree>
    <p:extLst>
      <p:ext uri="{BB962C8B-B14F-4D97-AF65-F5344CB8AC3E}">
        <p14:creationId xmlns:p14="http://schemas.microsoft.com/office/powerpoint/2010/main" val="3523081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BE4FE-753F-429C-9AEA-81424CBAD467}" type="slidenum">
              <a:rPr lang="en-IN" smtClean="0"/>
              <a:t>3</a:t>
            </a:fld>
            <a:endParaRPr lang="en-IN"/>
          </a:p>
        </p:txBody>
      </p:sp>
    </p:spTree>
    <p:extLst>
      <p:ext uri="{BB962C8B-B14F-4D97-AF65-F5344CB8AC3E}">
        <p14:creationId xmlns:p14="http://schemas.microsoft.com/office/powerpoint/2010/main" val="3900906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BE4FE-753F-429C-9AEA-81424CBAD467}" type="slidenum">
              <a:rPr lang="en-IN" smtClean="0"/>
              <a:t>9</a:t>
            </a:fld>
            <a:endParaRPr lang="en-IN"/>
          </a:p>
        </p:txBody>
      </p:sp>
    </p:spTree>
    <p:extLst>
      <p:ext uri="{BB962C8B-B14F-4D97-AF65-F5344CB8AC3E}">
        <p14:creationId xmlns:p14="http://schemas.microsoft.com/office/powerpoint/2010/main" val="42717475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5/16/2025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5/16/2025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academia.edu/" TargetMode="External"/><Relationship Id="rId2" Type="http://schemas.openxmlformats.org/officeDocument/2006/relationships/hyperlink" Target="http://dspace.aiub.edu:8080/jspui/handle/123456789/213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abstract/document/10774601/"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18" Type="http://schemas.openxmlformats.org/officeDocument/2006/relationships/image" Target="../media/image1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customXml" Target="../ink/ink8.xml"/><Relationship Id="rId2" Type="http://schemas.openxmlformats.org/officeDocument/2006/relationships/image" Target="../media/image4.png"/><Relationship Id="rId16"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C9A6-308E-8248-F2FD-22A2F8FF43C8}"/>
              </a:ext>
            </a:extLst>
          </p:cNvPr>
          <p:cNvSpPr>
            <a:spLocks noGrp="1"/>
          </p:cNvSpPr>
          <p:nvPr>
            <p:ph type="ctrTitle"/>
          </p:nvPr>
        </p:nvSpPr>
        <p:spPr>
          <a:xfrm>
            <a:off x="1662522" y="209405"/>
            <a:ext cx="8689976" cy="2509213"/>
          </a:xfrm>
        </p:spPr>
        <p:txBody>
          <a:bodyPr>
            <a:normAutofit/>
          </a:bodyPr>
          <a:lstStyle/>
          <a:p>
            <a:r>
              <a:rPr lang="en-US" sz="2800" dirty="0">
                <a:latin typeface="Times New Roman" panose="02020603050405020304" pitchFamily="18" charset="0"/>
                <a:cs typeface="Times New Roman" panose="02020603050405020304" pitchFamily="18" charset="0"/>
              </a:rPr>
              <a:t>"Smart Water Quality Monitoring Bottle"</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AA8792-150B-9CFE-6297-FCD2DA6B46EF}"/>
              </a:ext>
            </a:extLst>
          </p:cNvPr>
          <p:cNvSpPr>
            <a:spLocks noGrp="1"/>
          </p:cNvSpPr>
          <p:nvPr>
            <p:ph type="subTitle" idx="1"/>
          </p:nvPr>
        </p:nvSpPr>
        <p:spPr>
          <a:xfrm>
            <a:off x="1564199" y="4043520"/>
            <a:ext cx="8689976" cy="1315062"/>
          </a:xfrm>
        </p:spPr>
        <p:txBody>
          <a:bodyPr>
            <a:normAutofit fontScale="40000" lnSpcReduction="20000"/>
          </a:bodyPr>
          <a:lstStyle/>
          <a:p>
            <a:r>
              <a:rPr lang="en-US" sz="2900" dirty="0">
                <a:solidFill>
                  <a:schemeClr val="tx1"/>
                </a:solidFill>
                <a:latin typeface="Times New Roman" panose="02020603050405020304" pitchFamily="18" charset="0"/>
                <a:cs typeface="Times New Roman" panose="02020603050405020304" pitchFamily="18" charset="0"/>
              </a:rPr>
              <a:t>           Guide : Ms. P. Shilpa </a:t>
            </a:r>
            <a:r>
              <a:rPr lang="en-US" sz="2900" dirty="0" err="1">
                <a:solidFill>
                  <a:schemeClr val="tx1"/>
                </a:solidFill>
                <a:latin typeface="Times New Roman" panose="02020603050405020304" pitchFamily="18" charset="0"/>
                <a:cs typeface="Times New Roman" panose="02020603050405020304" pitchFamily="18" charset="0"/>
              </a:rPr>
              <a:t>sri</a:t>
            </a:r>
            <a:r>
              <a:rPr lang="en-US" sz="2900" dirty="0">
                <a:solidFill>
                  <a:schemeClr val="tx1"/>
                </a:solidFill>
                <a:latin typeface="Times New Roman" panose="02020603050405020304" pitchFamily="18" charset="0"/>
                <a:cs typeface="Times New Roman" panose="02020603050405020304" pitchFamily="18" charset="0"/>
              </a:rPr>
              <a:t>                                                                          K. Pranathi(22UP1A6631)</a:t>
            </a:r>
          </a:p>
          <a:p>
            <a:pPr marL="0" indent="0">
              <a:buNone/>
            </a:pPr>
            <a:r>
              <a:rPr lang="en-US" sz="2900" dirty="0">
                <a:solidFill>
                  <a:schemeClr val="tx1"/>
                </a:solidFill>
                <a:latin typeface="Times New Roman" panose="02020603050405020304" pitchFamily="18" charset="0"/>
                <a:cs typeface="Times New Roman" panose="02020603050405020304" pitchFamily="18" charset="0"/>
              </a:rPr>
              <a:t>                 (Asst. professor)                                                                              T. Ashwitha(22UP1A6664)</a:t>
            </a:r>
          </a:p>
          <a:p>
            <a:pPr marL="0" indent="0">
              <a:buNone/>
            </a:pPr>
            <a:r>
              <a:rPr lang="en-US" sz="2900" dirty="0">
                <a:solidFill>
                  <a:schemeClr val="tx1"/>
                </a:solidFill>
                <a:latin typeface="Times New Roman" panose="02020603050405020304" pitchFamily="18" charset="0"/>
                <a:cs typeface="Times New Roman" panose="02020603050405020304" pitchFamily="18" charset="0"/>
              </a:rPr>
              <a:t>DEPARTMENT OF CSE(AI &amp; ML)                                                                    K. Shveni(22UP1A6627)</a:t>
            </a:r>
          </a:p>
          <a:p>
            <a:pPr marL="0" indent="0">
              <a:buNone/>
            </a:pPr>
            <a:r>
              <a:rPr lang="en-US" sz="2900" dirty="0">
                <a:solidFill>
                  <a:schemeClr val="tx1"/>
                </a:solidFill>
                <a:latin typeface="Times New Roman" panose="02020603050405020304" pitchFamily="18" charset="0"/>
                <a:cs typeface="Times New Roman" panose="02020603050405020304" pitchFamily="18" charset="0"/>
              </a:rPr>
              <a:t>                                                                                                                                          R. Prathyusha(22UP1A6656)</a:t>
            </a:r>
            <a:endParaRPr lang="en-IN" sz="29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78308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5E17-27FD-0FFD-4039-C5EC0C3DDC6E}"/>
              </a:ext>
            </a:extLst>
          </p:cNvPr>
          <p:cNvSpPr>
            <a:spLocks noGrp="1"/>
          </p:cNvSpPr>
          <p:nvPr>
            <p:ph type="title"/>
          </p:nvPr>
        </p:nvSpPr>
        <p:spPr>
          <a:xfrm>
            <a:off x="146858" y="372711"/>
            <a:ext cx="10364451" cy="1596177"/>
          </a:xfrm>
        </p:spPr>
        <p:txBody>
          <a:bodyPr/>
          <a:lstStyle/>
          <a:p>
            <a:r>
              <a:rPr lang="en-IN" dirty="0">
                <a:latin typeface="Times New Roman" panose="02020603050405020304" pitchFamily="18" charset="0"/>
                <a:cs typeface="Times New Roman" panose="02020603050405020304" pitchFamily="18" charset="0"/>
              </a:rPr>
              <a:t>Contents</a:t>
            </a:r>
            <a:br>
              <a:rPr lang="en-IN" dirty="0"/>
            </a:br>
            <a:endParaRPr lang="en-IN" dirty="0"/>
          </a:p>
        </p:txBody>
      </p:sp>
      <p:sp>
        <p:nvSpPr>
          <p:cNvPr id="3" name="Content Placeholder 2">
            <a:extLst>
              <a:ext uri="{FF2B5EF4-FFF2-40B4-BE49-F238E27FC236}">
                <a16:creationId xmlns:a16="http://schemas.microsoft.com/office/drawing/2014/main" id="{DE0F1E94-D957-2DF4-0141-AFA62D0DEC1A}"/>
              </a:ext>
            </a:extLst>
          </p:cNvPr>
          <p:cNvSpPr>
            <a:spLocks noGrp="1"/>
          </p:cNvSpPr>
          <p:nvPr>
            <p:ph sz="quarter" idx="13"/>
          </p:nvPr>
        </p:nvSpPr>
        <p:spPr>
          <a:xfrm>
            <a:off x="1257903" y="1393698"/>
            <a:ext cx="10363826" cy="3424107"/>
          </a:xfrm>
        </p:spPr>
        <p:txBody>
          <a:bodyPr>
            <a:normAutofit fontScale="25000" lnSpcReduction="20000"/>
          </a:bodyPr>
          <a:lstStyle/>
          <a:p>
            <a:r>
              <a:rPr lang="en-IN" sz="7200" cap="none" dirty="0">
                <a:latin typeface="Times New Roman" panose="02020603050405020304" pitchFamily="18" charset="0"/>
                <a:cs typeface="Times New Roman" panose="02020603050405020304" pitchFamily="18" charset="0"/>
              </a:rPr>
              <a:t>Abstract</a:t>
            </a:r>
          </a:p>
          <a:p>
            <a:r>
              <a:rPr lang="en-IN" sz="7200" cap="none" dirty="0">
                <a:latin typeface="Times New Roman" panose="02020603050405020304" pitchFamily="18" charset="0"/>
                <a:cs typeface="Times New Roman" panose="02020603050405020304" pitchFamily="18" charset="0"/>
              </a:rPr>
              <a:t>Introduction</a:t>
            </a:r>
          </a:p>
          <a:p>
            <a:r>
              <a:rPr lang="en-IN" sz="7200" cap="none" dirty="0">
                <a:latin typeface="Times New Roman" panose="02020603050405020304" pitchFamily="18" charset="0"/>
                <a:cs typeface="Times New Roman" panose="02020603050405020304" pitchFamily="18" charset="0"/>
              </a:rPr>
              <a:t>Literature Survey</a:t>
            </a:r>
          </a:p>
          <a:p>
            <a:r>
              <a:rPr lang="en-IN" sz="7200" cap="none" dirty="0">
                <a:latin typeface="Times New Roman" panose="02020603050405020304" pitchFamily="18" charset="0"/>
                <a:cs typeface="Times New Roman" panose="02020603050405020304" pitchFamily="18" charset="0"/>
              </a:rPr>
              <a:t>Existing system &amp; Limitations</a:t>
            </a:r>
          </a:p>
          <a:p>
            <a:r>
              <a:rPr lang="en-IN" sz="7200" cap="none" dirty="0">
                <a:latin typeface="Times New Roman" panose="02020603050405020304" pitchFamily="18" charset="0"/>
                <a:cs typeface="Times New Roman" panose="02020603050405020304" pitchFamily="18" charset="0"/>
              </a:rPr>
              <a:t>Problem statement</a:t>
            </a:r>
          </a:p>
          <a:p>
            <a:r>
              <a:rPr lang="en-IN" sz="7200" cap="none" dirty="0">
                <a:latin typeface="Times New Roman" panose="02020603050405020304" pitchFamily="18" charset="0"/>
                <a:cs typeface="Times New Roman" panose="02020603050405020304" pitchFamily="18" charset="0"/>
              </a:rPr>
              <a:t>Software &amp; Hardware Requirements</a:t>
            </a:r>
          </a:p>
          <a:p>
            <a:r>
              <a:rPr lang="en-IN" sz="7200" cap="none" dirty="0">
                <a:latin typeface="Times New Roman" panose="02020603050405020304" pitchFamily="18" charset="0"/>
                <a:cs typeface="Times New Roman" panose="02020603050405020304" pitchFamily="18" charset="0"/>
              </a:rPr>
              <a:t>Proposed System</a:t>
            </a:r>
          </a:p>
          <a:p>
            <a:r>
              <a:rPr lang="en-IN" sz="7200" cap="none" dirty="0">
                <a:latin typeface="Times New Roman" panose="02020603050405020304" pitchFamily="18" charset="0"/>
                <a:cs typeface="Times New Roman" panose="02020603050405020304" pitchFamily="18" charset="0"/>
              </a:rPr>
              <a:t>System Architecture</a:t>
            </a:r>
          </a:p>
          <a:p>
            <a:r>
              <a:rPr lang="en-IN" sz="7200" cap="none" dirty="0">
                <a:latin typeface="Times New Roman" panose="02020603050405020304" pitchFamily="18" charset="0"/>
                <a:cs typeface="Times New Roman" panose="02020603050405020304" pitchFamily="18" charset="0"/>
              </a:rPr>
              <a:t>Methodology</a:t>
            </a:r>
          </a:p>
          <a:p>
            <a:r>
              <a:rPr lang="en-IN" sz="7200" cap="none" dirty="0">
                <a:latin typeface="Times New Roman" panose="02020603050405020304" pitchFamily="18" charset="0"/>
                <a:cs typeface="Times New Roman" panose="02020603050405020304" pitchFamily="18" charset="0"/>
              </a:rPr>
              <a:t>Results</a:t>
            </a:r>
          </a:p>
          <a:p>
            <a:r>
              <a:rPr lang="en-IN" sz="7200" cap="none" dirty="0">
                <a:latin typeface="Times New Roman" panose="02020603050405020304" pitchFamily="18" charset="0"/>
                <a:cs typeface="Times New Roman" panose="02020603050405020304" pitchFamily="18" charset="0"/>
              </a:rPr>
              <a:t>Conclusion</a:t>
            </a:r>
          </a:p>
          <a:p>
            <a:r>
              <a:rPr lang="en-IN" sz="7200" cap="none" dirty="0">
                <a:latin typeface="Times New Roman" panose="02020603050405020304" pitchFamily="18" charset="0"/>
                <a:cs typeface="Times New Roman" panose="02020603050405020304" pitchFamily="18" charset="0"/>
              </a:rPr>
              <a:t>References</a:t>
            </a:r>
            <a:endParaRPr lang="en-IN" sz="7200" dirty="0"/>
          </a:p>
          <a:p>
            <a:endParaRPr lang="en-IN" dirty="0"/>
          </a:p>
        </p:txBody>
      </p:sp>
    </p:spTree>
    <p:extLst>
      <p:ext uri="{BB962C8B-B14F-4D97-AF65-F5344CB8AC3E}">
        <p14:creationId xmlns:p14="http://schemas.microsoft.com/office/powerpoint/2010/main" val="1076712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7403-0A60-3745-7D34-96DCCC82AA7B}"/>
              </a:ext>
            </a:extLst>
          </p:cNvPr>
          <p:cNvSpPr>
            <a:spLocks noGrp="1"/>
          </p:cNvSpPr>
          <p:nvPr>
            <p:ph type="title"/>
          </p:nvPr>
        </p:nvSpPr>
        <p:spPr>
          <a:xfrm>
            <a:off x="579478" y="618517"/>
            <a:ext cx="10364451" cy="1596177"/>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FD01AF74-0FFF-06F0-890E-C9F05F586D34}"/>
              </a:ext>
            </a:extLst>
          </p:cNvPr>
          <p:cNvSpPr>
            <a:spLocks noGrp="1"/>
          </p:cNvSpPr>
          <p:nvPr>
            <p:ph sz="quarter" idx="13"/>
          </p:nvPr>
        </p:nvSpPr>
        <p:spPr>
          <a:xfrm>
            <a:off x="913774" y="1927124"/>
            <a:ext cx="10363826" cy="3864076"/>
          </a:xfrm>
        </p:spPr>
        <p:txBody>
          <a:bodyPr>
            <a:normAutofit/>
          </a:bodyPr>
          <a:lstStyle/>
          <a:p>
            <a:r>
              <a:rPr lang="en-US" sz="1800" cap="none" dirty="0">
                <a:latin typeface="Times New Roman" panose="02020603050405020304" pitchFamily="18" charset="0"/>
                <a:cs typeface="Times New Roman" panose="02020603050405020304" pitchFamily="18" charset="0"/>
              </a:rPr>
              <a:t>Access to clean drinking water is a crucial requirement, especially for travelers, outdoor enthusiasts, and individuals in areas where water quality is uncertain.</a:t>
            </a:r>
          </a:p>
          <a:p>
            <a:r>
              <a:rPr lang="en-US" sz="1800" cap="none" dirty="0">
                <a:latin typeface="Times New Roman" panose="02020603050405020304" pitchFamily="18" charset="0"/>
                <a:cs typeface="Times New Roman" panose="02020603050405020304" pitchFamily="18" charset="0"/>
              </a:rPr>
              <a:t>This project focuses on developing a smart water quality monitoring bottle that helps users understand the condition of their drinking water in real-time. The bottle is equipped with sensors to measure and display TDS, pH, and temperature values. These readings give users quick insights into whether the water is potentially safe to drink or needs further purification.</a:t>
            </a:r>
          </a:p>
          <a:p>
            <a:r>
              <a:rPr lang="en-US" sz="1800" cap="none" dirty="0">
                <a:latin typeface="Times New Roman" panose="02020603050405020304" pitchFamily="18" charset="0"/>
                <a:cs typeface="Times New Roman" panose="02020603050405020304" pitchFamily="18" charset="0"/>
              </a:rPr>
              <a:t>This system provides transparent, sensor-based water quality monitoring. It is a simple, portable, and affordable solution that encourages users to make informed decisions about the water they consume. The design is simple, efficient, and sustainable, offering a low-power, low-maintenance tool to support public health and environmental safety.</a:t>
            </a:r>
          </a:p>
        </p:txBody>
      </p:sp>
    </p:spTree>
    <p:extLst>
      <p:ext uri="{BB962C8B-B14F-4D97-AF65-F5344CB8AC3E}">
        <p14:creationId xmlns:p14="http://schemas.microsoft.com/office/powerpoint/2010/main" val="1295108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1E0B-7766-C720-0ABA-7E60604E11C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8260ABF-7B99-2E56-6FF8-5723A367D5E1}"/>
              </a:ext>
            </a:extLst>
          </p:cNvPr>
          <p:cNvSpPr>
            <a:spLocks noGrp="1"/>
          </p:cNvSpPr>
          <p:nvPr>
            <p:ph sz="quarter" idx="13"/>
          </p:nvPr>
        </p:nvSpPr>
        <p:spPr>
          <a:xfrm>
            <a:off x="913774" y="1806653"/>
            <a:ext cx="10363826" cy="3945218"/>
          </a:xfrm>
        </p:spPr>
        <p:txBody>
          <a:bodyPr>
            <a:normAutofit fontScale="25000" lnSpcReduction="20000"/>
          </a:bodyPr>
          <a:lstStyle/>
          <a:p>
            <a:pPr algn="just">
              <a:lnSpc>
                <a:spcPct val="115000"/>
              </a:lnSpc>
              <a:spcAft>
                <a:spcPts val="1000"/>
              </a:spcAft>
              <a:buFont typeface="Arial" panose="020B0604020202020204" pitchFamily="34" charset="0"/>
              <a:buChar char="•"/>
            </a:pPr>
            <a:r>
              <a:rPr lang="en-US" sz="7200" cap="none" dirty="0">
                <a:effectLst/>
                <a:latin typeface="Times New Roman" panose="02020603050405020304" pitchFamily="18" charset="0"/>
                <a:ea typeface="Calibri" panose="020F0502020204030204" pitchFamily="34" charset="0"/>
                <a:cs typeface="Times New Roman" panose="02020603050405020304" pitchFamily="18" charset="0"/>
              </a:rPr>
              <a:t>Clean and safe drinking water is essential for good health, yet it is not always readily available—especially for people who travel, camp, or live in areas with uncertain water sources. Even if water looks clear, it can still contain harmful substances such as excessive dissolved solids or an unbalanced pH level, which can pose health risks if consumed.</a:t>
            </a:r>
          </a:p>
          <a:p>
            <a:pPr algn="just">
              <a:lnSpc>
                <a:spcPct val="115000"/>
              </a:lnSpc>
              <a:spcAft>
                <a:spcPts val="1000"/>
              </a:spcAft>
              <a:buFont typeface="Arial" panose="020B0604020202020204" pitchFamily="34" charset="0"/>
              <a:buChar char="•"/>
            </a:pPr>
            <a:r>
              <a:rPr lang="en-US" sz="7200" cap="none" dirty="0">
                <a:effectLst/>
                <a:latin typeface="Times New Roman" panose="02020603050405020304" pitchFamily="18" charset="0"/>
                <a:ea typeface="Calibri" panose="020F0502020204030204" pitchFamily="34" charset="0"/>
                <a:cs typeface="Times New Roman" panose="02020603050405020304" pitchFamily="18" charset="0"/>
              </a:rPr>
              <a:t>This project presents a smart water quality monitoring bottle that helps users assess the safety of their drinking water in real-time. Instead of purifying the water, the system uses sensors to measure key parameters such as Total Dissolved Solids (TDS), pH, and temperature. These values are displayed on a digital screen attached to the bottle, providing instant feedback on water quality.</a:t>
            </a:r>
            <a:endParaRPr lang="en-IN" sz="72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7200" cap="none" dirty="0">
                <a:effectLst/>
                <a:latin typeface="Times New Roman" panose="02020603050405020304" pitchFamily="18" charset="0"/>
                <a:ea typeface="Calibri" panose="020F0502020204030204" pitchFamily="34" charset="0"/>
                <a:cs typeface="Times New Roman" panose="02020603050405020304" pitchFamily="18" charset="0"/>
              </a:rPr>
              <a:t>The goal is to create a portable, low-maintenance, and user-friendly tool that helps people make informed choices about their hydration. This is especially helpful in off-grid, outdoor, or emergency environments where access to tested water is limited. By increasing awareness of water quality, the project also encourages healthier habits and supports public safety.</a:t>
            </a:r>
            <a:endParaRPr lang="en-IN" dirty="0"/>
          </a:p>
        </p:txBody>
      </p:sp>
    </p:spTree>
    <p:extLst>
      <p:ext uri="{BB962C8B-B14F-4D97-AF65-F5344CB8AC3E}">
        <p14:creationId xmlns:p14="http://schemas.microsoft.com/office/powerpoint/2010/main" val="3332968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88A7-CE14-464B-34D8-B84C3B90F7E1}"/>
              </a:ext>
            </a:extLst>
          </p:cNvPr>
          <p:cNvSpPr>
            <a:spLocks noGrp="1"/>
          </p:cNvSpPr>
          <p:nvPr>
            <p:ph type="title"/>
          </p:nvPr>
        </p:nvSpPr>
        <p:spPr>
          <a:xfrm>
            <a:off x="913774" y="0"/>
            <a:ext cx="10364451" cy="1596177"/>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DB504F37-3CD2-1E55-406A-965D81576D4F}"/>
              </a:ext>
            </a:extLst>
          </p:cNvPr>
          <p:cNvGraphicFramePr>
            <a:graphicFrameLocks noGrp="1"/>
          </p:cNvGraphicFramePr>
          <p:nvPr>
            <p:ph sz="quarter" idx="13"/>
            <p:extLst>
              <p:ext uri="{D42A27DB-BD31-4B8C-83A1-F6EECF244321}">
                <p14:modId xmlns:p14="http://schemas.microsoft.com/office/powerpoint/2010/main" val="3781131025"/>
              </p:ext>
            </p:extLst>
          </p:nvPr>
        </p:nvGraphicFramePr>
        <p:xfrm>
          <a:off x="835742" y="1229032"/>
          <a:ext cx="10795818" cy="5153098"/>
        </p:xfrm>
        <a:graphic>
          <a:graphicData uri="http://schemas.openxmlformats.org/drawingml/2006/table">
            <a:tbl>
              <a:tblPr firstRow="1" bandRow="1">
                <a:tableStyleId>{5C22544A-7EE6-4342-B048-85BDC9FD1C3A}</a:tableStyleId>
              </a:tblPr>
              <a:tblGrid>
                <a:gridCol w="2703871">
                  <a:extLst>
                    <a:ext uri="{9D8B030D-6E8A-4147-A177-3AD203B41FA5}">
                      <a16:colId xmlns:a16="http://schemas.microsoft.com/office/drawing/2014/main" val="1252572065"/>
                    </a:ext>
                  </a:extLst>
                </a:gridCol>
                <a:gridCol w="2025445">
                  <a:extLst>
                    <a:ext uri="{9D8B030D-6E8A-4147-A177-3AD203B41FA5}">
                      <a16:colId xmlns:a16="http://schemas.microsoft.com/office/drawing/2014/main" val="2680437497"/>
                    </a:ext>
                  </a:extLst>
                </a:gridCol>
                <a:gridCol w="2998697">
                  <a:extLst>
                    <a:ext uri="{9D8B030D-6E8A-4147-A177-3AD203B41FA5}">
                      <a16:colId xmlns:a16="http://schemas.microsoft.com/office/drawing/2014/main" val="1332040138"/>
                    </a:ext>
                  </a:extLst>
                </a:gridCol>
                <a:gridCol w="3067805">
                  <a:extLst>
                    <a:ext uri="{9D8B030D-6E8A-4147-A177-3AD203B41FA5}">
                      <a16:colId xmlns:a16="http://schemas.microsoft.com/office/drawing/2014/main" val="2228094906"/>
                    </a:ext>
                  </a:extLst>
                </a:gridCol>
              </a:tblGrid>
              <a:tr h="12612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AUTHORS</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METHODOLOGY USED/</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ACHIEVEMENTS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LIMITATIONS/DRAWBACK</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10020270"/>
                  </a:ext>
                </a:extLst>
              </a:tr>
              <a:tr h="2139933">
                <a:tc>
                  <a:txBody>
                    <a:bodyPr/>
                    <a:lstStyle/>
                    <a:p>
                      <a:r>
                        <a:rPr lang="en-US" dirty="0">
                          <a:latin typeface="Times New Roman" panose="02020603050405020304" pitchFamily="18" charset="0"/>
                          <a:cs typeface="Times New Roman" panose="02020603050405020304" pitchFamily="18" charset="0"/>
                        </a:rPr>
                        <a:t>IoT based smart water quality monitoring system</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Varsha Lakshmikantha, Anjitha </a:t>
                      </a:r>
                      <a:r>
                        <a:rPr lang="en-IN" dirty="0" err="1">
                          <a:latin typeface="Times New Roman" panose="02020603050405020304" pitchFamily="18" charset="0"/>
                          <a:cs typeface="Times New Roman" panose="02020603050405020304" pitchFamily="18" charset="0"/>
                        </a:rPr>
                        <a:t>Hiriyannagowda</a:t>
                      </a:r>
                      <a:r>
                        <a:rPr lang="en-IN" dirty="0">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hlinkClick r:id="rId2"/>
                        </a:rPr>
                        <a:t>dspace.aiub.edu</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Sensors collect water data, microcontroller processes it, and IoT transmits to cloud for real-time monitoring and alert notifications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Sensor drift, power issues, poor connectivity, maintenance needs, high costs, limited parameters, and data security are key system limitations.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5284651"/>
                  </a:ext>
                </a:extLst>
              </a:tr>
              <a:tr h="1751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and Development of Multi Purpose Smart Water Bottle</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NAMRATA SWARGARI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 </a:t>
                      </a:r>
                      <a:r>
                        <a:rPr lang="en-US" sz="1800" kern="1200" dirty="0">
                          <a:solidFill>
                            <a:schemeClr val="dk1"/>
                          </a:solidFill>
                          <a:effectLst/>
                          <a:latin typeface="Times New Roman" panose="02020603050405020304" pitchFamily="18" charset="0"/>
                          <a:ea typeface="+mn-ea"/>
                          <a:cs typeface="Times New Roman" panose="02020603050405020304" pitchFamily="18" charset="0"/>
                          <a:hlinkClick r:id="rId3"/>
                        </a:rPr>
                        <a:t>www.academia.edu</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integrate Peltier module, sensors,  microcontroller; test heating/cooling, and user interface.</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High power consumption, limited battery life, slow temperature adjustment, bulkiness, and high cost due to advanced components.</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47255962"/>
                  </a:ext>
                </a:extLst>
              </a:tr>
            </a:tbl>
          </a:graphicData>
        </a:graphic>
      </p:graphicFrame>
    </p:spTree>
    <p:extLst>
      <p:ext uri="{BB962C8B-B14F-4D97-AF65-F5344CB8AC3E}">
        <p14:creationId xmlns:p14="http://schemas.microsoft.com/office/powerpoint/2010/main" val="1255318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62E4EF2-30E0-3886-0F5A-6C423116A22E}"/>
              </a:ext>
            </a:extLst>
          </p:cNvPr>
          <p:cNvGraphicFramePr>
            <a:graphicFrameLocks noGrp="1"/>
          </p:cNvGraphicFramePr>
          <p:nvPr>
            <p:extLst>
              <p:ext uri="{D42A27DB-BD31-4B8C-83A1-F6EECF244321}">
                <p14:modId xmlns:p14="http://schemas.microsoft.com/office/powerpoint/2010/main" val="347104323"/>
              </p:ext>
            </p:extLst>
          </p:nvPr>
        </p:nvGraphicFramePr>
        <p:xfrm>
          <a:off x="865239" y="1365758"/>
          <a:ext cx="10461522" cy="3577844"/>
        </p:xfrm>
        <a:graphic>
          <a:graphicData uri="http://schemas.openxmlformats.org/drawingml/2006/table">
            <a:tbl>
              <a:tblPr firstRow="1" bandRow="1">
                <a:tableStyleId>{5C22544A-7EE6-4342-B048-85BDC9FD1C3A}</a:tableStyleId>
              </a:tblPr>
              <a:tblGrid>
                <a:gridCol w="2467897">
                  <a:extLst>
                    <a:ext uri="{9D8B030D-6E8A-4147-A177-3AD203B41FA5}">
                      <a16:colId xmlns:a16="http://schemas.microsoft.com/office/drawing/2014/main" val="2848403707"/>
                    </a:ext>
                  </a:extLst>
                </a:gridCol>
                <a:gridCol w="1917290">
                  <a:extLst>
                    <a:ext uri="{9D8B030D-6E8A-4147-A177-3AD203B41FA5}">
                      <a16:colId xmlns:a16="http://schemas.microsoft.com/office/drawing/2014/main" val="591860637"/>
                    </a:ext>
                  </a:extLst>
                </a:gridCol>
                <a:gridCol w="2470386">
                  <a:extLst>
                    <a:ext uri="{9D8B030D-6E8A-4147-A177-3AD203B41FA5}">
                      <a16:colId xmlns:a16="http://schemas.microsoft.com/office/drawing/2014/main" val="2195229868"/>
                    </a:ext>
                  </a:extLst>
                </a:gridCol>
                <a:gridCol w="3605949">
                  <a:extLst>
                    <a:ext uri="{9D8B030D-6E8A-4147-A177-3AD203B41FA5}">
                      <a16:colId xmlns:a16="http://schemas.microsoft.com/office/drawing/2014/main" val="319844947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Times New Roman" panose="02020603050405020304" pitchFamily="18" charset="0"/>
                          <a:ea typeface="+mn-ea"/>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METHODOLOGY USED/</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ACHIEVEMENTS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LIMITATIONS/DRAWBACK</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79509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Photovoltaic Bottle with Multiple Features Using Solar</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US" sz="1800" kern="1200" dirty="0">
                          <a:solidFill>
                            <a:schemeClr val="dk1"/>
                          </a:solidFill>
                          <a:effectLst/>
                          <a:latin typeface="Times New Roman" panose="02020603050405020304" pitchFamily="18" charset="0"/>
                          <a:ea typeface="+mn-ea"/>
                          <a:cs typeface="Times New Roman" panose="02020603050405020304" pitchFamily="18" charset="0"/>
                        </a:rPr>
                        <a:t>SUPRIYA TELSANG</a:t>
                      </a:r>
                    </a:p>
                    <a:p>
                      <a:r>
                        <a:rPr lang="en-US" sz="1800" kern="1200" dirty="0">
                          <a:solidFill>
                            <a:schemeClr val="dk1"/>
                          </a:solidFill>
                          <a:effectLst/>
                          <a:latin typeface="Times New Roman" panose="02020603050405020304" pitchFamily="18" charset="0"/>
                          <a:ea typeface="+mn-ea"/>
                          <a:cs typeface="Times New Roman" panose="02020603050405020304" pitchFamily="18" charset="0"/>
                        </a:rPr>
                        <a:t>SWAPNIL PAWAR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2"/>
                        </a:rPr>
                        <a:t>ieeexplore.ieee.org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photovoltaic bottle with transparent solar cells, test energy harvesting,  and usability for sustainability.</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Limited energy output, high cost, dependency on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sunlight,bulkiness</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and durability issues in harsh outdoor conditions.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67888799"/>
                  </a:ext>
                </a:extLst>
              </a:tr>
            </a:tbl>
          </a:graphicData>
        </a:graphic>
      </p:graphicFrame>
    </p:spTree>
    <p:extLst>
      <p:ext uri="{BB962C8B-B14F-4D97-AF65-F5344CB8AC3E}">
        <p14:creationId xmlns:p14="http://schemas.microsoft.com/office/powerpoint/2010/main" val="3830121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B89E0-A8F1-D5CE-9F4D-B770835229E2}"/>
              </a:ext>
            </a:extLst>
          </p:cNvPr>
          <p:cNvSpPr>
            <a:spLocks noGrp="1"/>
          </p:cNvSpPr>
          <p:nvPr>
            <p:ph type="title"/>
          </p:nvPr>
        </p:nvSpPr>
        <p:spPr>
          <a:xfrm>
            <a:off x="314008" y="638182"/>
            <a:ext cx="10364451" cy="1596177"/>
          </a:xfrm>
        </p:spPr>
        <p:txBody>
          <a:bodyPr/>
          <a:lstStyle/>
          <a:p>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AA32F22-8B64-F5EA-3734-3346C8433929}"/>
              </a:ext>
            </a:extLst>
          </p:cNvPr>
          <p:cNvSpPr>
            <a:spLocks noGrp="1"/>
          </p:cNvSpPr>
          <p:nvPr>
            <p:ph sz="quarter" idx="13"/>
          </p:nvPr>
        </p:nvSpPr>
        <p:spPr/>
        <p:txBody>
          <a:bodyPr>
            <a:normAutofit/>
          </a:bodyPr>
          <a:lstStyle/>
          <a:p>
            <a:r>
              <a:rPr lang="en-US" cap="none" dirty="0">
                <a:latin typeface="Times New Roman" panose="02020603050405020304" pitchFamily="18" charset="0"/>
                <a:cs typeface="Times New Roman" panose="02020603050405020304" pitchFamily="18" charset="0"/>
              </a:rPr>
              <a:t>Sensors collect water data, microcontroller processes it, and IoT transmits to cloud for real-time monitoring and alert notifications</a:t>
            </a:r>
            <a:endParaRPr lang="en-IN" cap="none" dirty="0">
              <a:latin typeface="Times New Roman" panose="02020603050405020304" pitchFamily="18" charset="0"/>
              <a:cs typeface="Times New Roman" panose="02020603050405020304" pitchFamily="18" charset="0"/>
            </a:endParaRPr>
          </a:p>
          <a:p>
            <a:r>
              <a:rPr lang="en-US" sz="2000" kern="1200" cap="none" dirty="0">
                <a:solidFill>
                  <a:schemeClr val="dk1"/>
                </a:solidFill>
                <a:effectLst/>
                <a:latin typeface="Times New Roman" panose="02020603050405020304" pitchFamily="18" charset="0"/>
                <a:cs typeface="Times New Roman" panose="02020603050405020304" pitchFamily="18" charset="0"/>
              </a:rPr>
              <a:t>Design photovoltaic bottle with transparent solar cells, test energy harvesting,  and usability for sustainability</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73750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2BCEF-B50A-0FA1-B9A3-24032A6F5DBF}"/>
              </a:ext>
            </a:extLst>
          </p:cNvPr>
          <p:cNvSpPr>
            <a:spLocks noGrp="1"/>
          </p:cNvSpPr>
          <p:nvPr>
            <p:ph type="title"/>
          </p:nvPr>
        </p:nvSpPr>
        <p:spPr>
          <a:xfrm>
            <a:off x="412330" y="569356"/>
            <a:ext cx="10364451" cy="1596177"/>
          </a:xfrm>
        </p:spPr>
        <p:txBody>
          <a:bodyPr/>
          <a:lstStyle/>
          <a:p>
            <a:r>
              <a:rPr lang="en-IN"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2A90AEEB-EFE3-46B5-416A-99899C63979F}"/>
              </a:ext>
            </a:extLst>
          </p:cNvPr>
          <p:cNvSpPr>
            <a:spLocks noGrp="1"/>
          </p:cNvSpPr>
          <p:nvPr>
            <p:ph sz="quarter" idx="13"/>
          </p:nvPr>
        </p:nvSpPr>
        <p:spPr/>
        <p:txBody>
          <a:bodyPr/>
          <a:lstStyle/>
          <a:p>
            <a:r>
              <a:rPr lang="en-US" cap="none" dirty="0">
                <a:latin typeface="Times New Roman" panose="02020603050405020304" pitchFamily="18" charset="0"/>
                <a:cs typeface="Times New Roman" panose="02020603050405020304" pitchFamily="18" charset="0"/>
              </a:rPr>
              <a:t>Power issues, </a:t>
            </a:r>
          </a:p>
          <a:p>
            <a:r>
              <a:rPr lang="en-US" cap="none" dirty="0">
                <a:latin typeface="Times New Roman" panose="02020603050405020304" pitchFamily="18" charset="0"/>
                <a:cs typeface="Times New Roman" panose="02020603050405020304" pitchFamily="18" charset="0"/>
              </a:rPr>
              <a:t>Poor connectivity,</a:t>
            </a:r>
          </a:p>
          <a:p>
            <a:r>
              <a:rPr lang="en-US" cap="none" dirty="0">
                <a:latin typeface="Times New Roman" panose="02020603050405020304" pitchFamily="18" charset="0"/>
                <a:cs typeface="Times New Roman" panose="02020603050405020304" pitchFamily="18" charset="0"/>
              </a:rPr>
              <a:t> High costs,</a:t>
            </a:r>
          </a:p>
          <a:p>
            <a:r>
              <a:rPr lang="en-US" sz="2000" kern="1200" cap="none" dirty="0">
                <a:solidFill>
                  <a:schemeClr val="dk1"/>
                </a:solidFill>
                <a:effectLst/>
                <a:latin typeface="Times New Roman" panose="02020603050405020304" pitchFamily="18" charset="0"/>
                <a:ea typeface="+mn-ea"/>
                <a:cs typeface="Times New Roman" panose="02020603050405020304" pitchFamily="18" charset="0"/>
              </a:rPr>
              <a:t>Dependency on sunlight,</a:t>
            </a:r>
            <a:endParaRPr lang="en-IN" cap="none" dirty="0"/>
          </a:p>
        </p:txBody>
      </p:sp>
    </p:spTree>
    <p:extLst>
      <p:ext uri="{BB962C8B-B14F-4D97-AF65-F5344CB8AC3E}">
        <p14:creationId xmlns:p14="http://schemas.microsoft.com/office/powerpoint/2010/main" val="210179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AAEF1-F142-3ECA-58BC-D82824713583}"/>
              </a:ext>
            </a:extLst>
          </p:cNvPr>
          <p:cNvSpPr>
            <a:spLocks noGrp="1"/>
          </p:cNvSpPr>
          <p:nvPr>
            <p:ph type="title"/>
          </p:nvPr>
        </p:nvSpPr>
        <p:spPr>
          <a:xfrm>
            <a:off x="795788" y="781666"/>
            <a:ext cx="10364451" cy="1596177"/>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683D1D9-7DFA-B2F8-3AB8-5325932F480B}"/>
              </a:ext>
            </a:extLst>
          </p:cNvPr>
          <p:cNvSpPr>
            <a:spLocks noGrp="1"/>
          </p:cNvSpPr>
          <p:nvPr>
            <p:ph sz="quarter" idx="13"/>
          </p:nvPr>
        </p:nvSpPr>
        <p:spPr>
          <a:xfrm>
            <a:off x="1169412" y="2652227"/>
            <a:ext cx="10363826" cy="3424107"/>
          </a:xfrm>
        </p:spPr>
        <p:txBody>
          <a:bodyPr>
            <a:normAutofit/>
          </a:bodyPr>
          <a:lstStyle/>
          <a:p>
            <a:pPr marL="0" indent="0">
              <a:buNone/>
            </a:pPr>
            <a:r>
              <a:rPr lang="en-US" sz="1800" cap="none" dirty="0">
                <a:latin typeface="Times New Roman" panose="02020603050405020304" pitchFamily="18" charset="0"/>
                <a:cs typeface="Times New Roman" panose="02020603050405020304" pitchFamily="18" charset="0"/>
              </a:rPr>
              <a:t>Traditional water quality monitoring methods are often time-consuming, costly, and lack real-time capabilities. Therefore, there is a need for an efficient, </a:t>
            </a:r>
            <a:r>
              <a:rPr lang="en-US" sz="1800" cap="none" dirty="0" err="1">
                <a:latin typeface="Times New Roman" panose="02020603050405020304" pitchFamily="18" charset="0"/>
                <a:cs typeface="Times New Roman" panose="02020603050405020304" pitchFamily="18" charset="0"/>
              </a:rPr>
              <a:t>iot</a:t>
            </a:r>
            <a:r>
              <a:rPr lang="en-US" sz="1800" cap="none" dirty="0">
                <a:latin typeface="Times New Roman" panose="02020603050405020304" pitchFamily="18" charset="0"/>
                <a:cs typeface="Times New Roman" panose="02020603050405020304" pitchFamily="18" charset="0"/>
              </a:rPr>
              <a:t>-based smart water quality monitoring system that can continuously track water parameters in real time </a:t>
            </a:r>
            <a:endParaRPr lang="en-IN" sz="1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7929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CB88-F48F-4334-8298-78EE2E36C811}"/>
              </a:ext>
            </a:extLst>
          </p:cNvPr>
          <p:cNvSpPr>
            <a:spLocks noGrp="1"/>
          </p:cNvSpPr>
          <p:nvPr>
            <p:ph type="title"/>
          </p:nvPr>
        </p:nvSpPr>
        <p:spPr>
          <a:xfrm>
            <a:off x="1070466" y="333381"/>
            <a:ext cx="10364451" cy="1596177"/>
          </a:xfrm>
        </p:spPr>
        <p:txBody>
          <a:bodyPr/>
          <a:lstStyle/>
          <a:p>
            <a:r>
              <a:rPr lang="en-IN" dirty="0">
                <a:latin typeface="Times New Roman" panose="02020603050405020304" pitchFamily="18" charset="0"/>
                <a:cs typeface="Times New Roman" panose="02020603050405020304" pitchFamily="18" charset="0"/>
              </a:rPr>
              <a:t>SOFTWARE &amp; HARDWARE REQUIREMENTS</a:t>
            </a:r>
          </a:p>
        </p:txBody>
      </p:sp>
      <p:sp>
        <p:nvSpPr>
          <p:cNvPr id="3" name="Content Placeholder 2">
            <a:extLst>
              <a:ext uri="{FF2B5EF4-FFF2-40B4-BE49-F238E27FC236}">
                <a16:creationId xmlns:a16="http://schemas.microsoft.com/office/drawing/2014/main" id="{125A0EAD-92F8-8555-766C-35D3ABD35459}"/>
              </a:ext>
            </a:extLst>
          </p:cNvPr>
          <p:cNvSpPr>
            <a:spLocks noGrp="1"/>
          </p:cNvSpPr>
          <p:nvPr>
            <p:ph sz="quarter" idx="13"/>
          </p:nvPr>
        </p:nvSpPr>
        <p:spPr>
          <a:xfrm>
            <a:off x="1071091" y="1504336"/>
            <a:ext cx="10363826" cy="3424107"/>
          </a:xfrm>
        </p:spPr>
        <p:txBody>
          <a:bodyPr>
            <a:normAutofit fontScale="25000" lnSpcReduction="20000"/>
          </a:bodyPr>
          <a:lstStyle/>
          <a:p>
            <a:pPr marL="0" indent="0">
              <a:buNone/>
            </a:pPr>
            <a:r>
              <a:rPr lang="en-IN" sz="8000" b="1" cap="none" dirty="0">
                <a:latin typeface="Times New Roman" panose="02020603050405020304" pitchFamily="18" charset="0"/>
                <a:cs typeface="Times New Roman" panose="02020603050405020304" pitchFamily="18" charset="0"/>
              </a:rPr>
              <a:t>Software requirements:    </a:t>
            </a:r>
          </a:p>
          <a:p>
            <a:r>
              <a:rPr lang="en-IN" sz="7200" cap="none" dirty="0">
                <a:latin typeface="Times New Roman" panose="02020603050405020304" pitchFamily="18" charset="0"/>
                <a:cs typeface="Times New Roman" panose="02020603050405020304" pitchFamily="18" charset="0"/>
              </a:rPr>
              <a:t>Embedded C/C++ (</a:t>
            </a:r>
            <a:r>
              <a:rPr lang="en-IN" sz="7200" cap="none" dirty="0" err="1">
                <a:latin typeface="Times New Roman" panose="02020603050405020304" pitchFamily="18" charset="0"/>
                <a:cs typeface="Times New Roman" panose="02020603050405020304" pitchFamily="18" charset="0"/>
              </a:rPr>
              <a:t>arduino</a:t>
            </a:r>
            <a:r>
              <a:rPr lang="en-IN" sz="7200" cap="none" dirty="0">
                <a:latin typeface="Times New Roman" panose="02020603050405020304" pitchFamily="18" charset="0"/>
                <a:cs typeface="Times New Roman" panose="02020603050405020304" pitchFamily="18" charset="0"/>
              </a:rPr>
              <a:t> IDE or </a:t>
            </a:r>
            <a:r>
              <a:rPr lang="en-IN" sz="7200" cap="none" dirty="0" err="1">
                <a:latin typeface="Times New Roman" panose="02020603050405020304" pitchFamily="18" charset="0"/>
                <a:cs typeface="Times New Roman" panose="02020603050405020304" pitchFamily="18" charset="0"/>
              </a:rPr>
              <a:t>platformio</a:t>
            </a:r>
            <a:r>
              <a:rPr lang="en-IN" sz="7200" cap="none" dirty="0">
                <a:latin typeface="Times New Roman" panose="02020603050405020304" pitchFamily="18" charset="0"/>
                <a:cs typeface="Times New Roman" panose="02020603050405020304" pitchFamily="18" charset="0"/>
              </a:rPr>
              <a:t>)</a:t>
            </a:r>
            <a:endParaRPr lang="en-IN" sz="7200" b="1" cap="none" dirty="0">
              <a:latin typeface="Times New Roman" panose="02020603050405020304" pitchFamily="18" charset="0"/>
              <a:cs typeface="Times New Roman" panose="02020603050405020304" pitchFamily="18" charset="0"/>
            </a:endParaRPr>
          </a:p>
          <a:p>
            <a:r>
              <a:rPr lang="en-IN" sz="7200" cap="none" dirty="0">
                <a:latin typeface="Times New Roman" panose="02020603050405020304" pitchFamily="18" charset="0"/>
                <a:cs typeface="Times New Roman" panose="02020603050405020304" pitchFamily="18" charset="0"/>
              </a:rPr>
              <a:t>Sensor calibration algorithms</a:t>
            </a:r>
            <a:r>
              <a:rPr lang="en-IN" sz="7200" b="1" cap="none" dirty="0">
                <a:latin typeface="Times New Roman" panose="02020603050405020304" pitchFamily="18" charset="0"/>
                <a:cs typeface="Times New Roman" panose="02020603050405020304" pitchFamily="18" charset="0"/>
              </a:rPr>
              <a:t>     </a:t>
            </a:r>
          </a:p>
          <a:p>
            <a:r>
              <a:rPr lang="en-IN" sz="7200" cap="none" dirty="0">
                <a:latin typeface="Times New Roman" panose="02020603050405020304" pitchFamily="18" charset="0"/>
                <a:cs typeface="Times New Roman" panose="02020603050405020304" pitchFamily="18" charset="0"/>
              </a:rPr>
              <a:t>Data visualization library</a:t>
            </a:r>
          </a:p>
          <a:p>
            <a:pPr marL="0" indent="0">
              <a:buNone/>
            </a:pPr>
            <a:r>
              <a:rPr lang="en-IN" sz="8000" b="1" cap="none" dirty="0">
                <a:latin typeface="Times New Roman" panose="02020603050405020304" pitchFamily="18" charset="0"/>
                <a:cs typeface="Times New Roman" panose="02020603050405020304" pitchFamily="18" charset="0"/>
              </a:rPr>
              <a:t>Hardware Requirements:</a:t>
            </a:r>
          </a:p>
          <a:p>
            <a:r>
              <a:rPr lang="en-IN" sz="7200" cap="none" dirty="0">
                <a:latin typeface="Times New Roman" panose="02020603050405020304" pitchFamily="18" charset="0"/>
                <a:cs typeface="Times New Roman" panose="02020603050405020304" pitchFamily="18" charset="0"/>
              </a:rPr>
              <a:t>Microcontroller</a:t>
            </a:r>
          </a:p>
          <a:p>
            <a:r>
              <a:rPr lang="en-IN" sz="7200" cap="none" dirty="0">
                <a:latin typeface="Times New Roman" panose="02020603050405020304" pitchFamily="18" charset="0"/>
                <a:cs typeface="Times New Roman" panose="02020603050405020304" pitchFamily="18" charset="0"/>
              </a:rPr>
              <a:t>Ph sensor</a:t>
            </a:r>
          </a:p>
          <a:p>
            <a:r>
              <a:rPr lang="en-IN" sz="7200" cap="none" dirty="0">
                <a:latin typeface="Times New Roman" panose="02020603050405020304" pitchFamily="18" charset="0"/>
                <a:cs typeface="Times New Roman" panose="02020603050405020304" pitchFamily="18" charset="0"/>
              </a:rPr>
              <a:t>TDS sensor</a:t>
            </a:r>
          </a:p>
          <a:p>
            <a:r>
              <a:rPr lang="en-IN" sz="7200" cap="none" dirty="0">
                <a:latin typeface="Times New Roman" panose="02020603050405020304" pitchFamily="18" charset="0"/>
                <a:cs typeface="Times New Roman" panose="02020603050405020304" pitchFamily="18" charset="0"/>
              </a:rPr>
              <a:t>Temperature sensor</a:t>
            </a:r>
          </a:p>
          <a:p>
            <a:r>
              <a:rPr lang="en-IN" sz="7200" cap="none" dirty="0">
                <a:latin typeface="Times New Roman" panose="02020603050405020304" pitchFamily="18" charset="0"/>
                <a:cs typeface="Times New Roman" panose="02020603050405020304" pitchFamily="18" charset="0"/>
              </a:rPr>
              <a:t>Battery</a:t>
            </a:r>
            <a:endParaRPr lang="en-IN" sz="7200" dirty="0">
              <a:latin typeface="Times New Roman" panose="02020603050405020304" pitchFamily="18" charset="0"/>
              <a:cs typeface="Times New Roman" panose="02020603050405020304" pitchFamily="18" charset="0"/>
            </a:endParaRPr>
          </a:p>
          <a:p>
            <a:endParaRPr lang="en-IN" sz="1800" b="1"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800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AE4F-83B2-AA52-C95B-60763B411147}"/>
              </a:ext>
            </a:extLst>
          </p:cNvPr>
          <p:cNvSpPr>
            <a:spLocks noGrp="1"/>
          </p:cNvSpPr>
          <p:nvPr>
            <p:ph type="title"/>
          </p:nvPr>
        </p:nvSpPr>
        <p:spPr>
          <a:xfrm>
            <a:off x="687633" y="618517"/>
            <a:ext cx="10364451" cy="1596177"/>
          </a:xfrm>
        </p:spPr>
        <p:txBody>
          <a:bodyPr/>
          <a:lstStyle/>
          <a:p>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678153EB-CABE-0041-3843-530FEFDE3A73}"/>
              </a:ext>
            </a:extLst>
          </p:cNvPr>
          <p:cNvSpPr>
            <a:spLocks noGrp="1"/>
          </p:cNvSpPr>
          <p:nvPr>
            <p:ph sz="quarter" idx="13"/>
          </p:nvPr>
        </p:nvSpPr>
        <p:spPr/>
        <p:txBody>
          <a:bodyPr/>
          <a:lstStyle/>
          <a:p>
            <a:pPr marL="0" indent="0">
              <a:buNone/>
            </a:pPr>
            <a:r>
              <a:rPr lang="en-US" sz="1800" cap="none" dirty="0">
                <a:latin typeface="Times New Roman" panose="02020603050405020304" pitchFamily="18" charset="0"/>
                <a:cs typeface="Times New Roman" panose="02020603050405020304" pitchFamily="18" charset="0"/>
              </a:rPr>
              <a:t>The proposed system uses </a:t>
            </a:r>
            <a:r>
              <a:rPr lang="en-US" sz="1800" cap="none" dirty="0" err="1">
                <a:latin typeface="Times New Roman" panose="02020603050405020304" pitchFamily="18" charset="0"/>
                <a:cs typeface="Times New Roman" panose="02020603050405020304" pitchFamily="18" charset="0"/>
              </a:rPr>
              <a:t>iot</a:t>
            </a:r>
            <a:r>
              <a:rPr lang="en-US" sz="1800" cap="none" dirty="0">
                <a:latin typeface="Times New Roman" panose="02020603050405020304" pitchFamily="18" charset="0"/>
                <a:cs typeface="Times New Roman" panose="02020603050405020304" pitchFamily="18" charset="0"/>
              </a:rPr>
              <a:t> technology to monitor water quality in real time. It includes sensors to measure </a:t>
            </a:r>
            <a:r>
              <a:rPr lang="en-US" sz="1800" cap="none" dirty="0" err="1">
                <a:latin typeface="Times New Roman" panose="02020603050405020304" pitchFamily="18" charset="0"/>
                <a:cs typeface="Times New Roman" panose="02020603050405020304" pitchFamily="18" charset="0"/>
              </a:rPr>
              <a:t>ph</a:t>
            </a:r>
            <a:r>
              <a:rPr lang="en-US" sz="1800" cap="none" dirty="0">
                <a:latin typeface="Times New Roman" panose="02020603050405020304" pitchFamily="18" charset="0"/>
                <a:cs typeface="Times New Roman" panose="02020603050405020304" pitchFamily="18" charset="0"/>
              </a:rPr>
              <a:t>, temperature, and TDS. These sensors connect to a microcontroller (e.g., ESP32 or </a:t>
            </a:r>
            <a:r>
              <a:rPr lang="en-US" sz="1800" cap="none" dirty="0" err="1">
                <a:latin typeface="Times New Roman" panose="02020603050405020304" pitchFamily="18" charset="0"/>
                <a:cs typeface="Times New Roman" panose="02020603050405020304" pitchFamily="18" charset="0"/>
              </a:rPr>
              <a:t>arduino</a:t>
            </a:r>
            <a:r>
              <a:rPr lang="en-US" sz="1800" cap="none" dirty="0">
                <a:latin typeface="Times New Roman" panose="02020603050405020304" pitchFamily="18" charset="0"/>
                <a:cs typeface="Times New Roman" panose="02020603050405020304" pitchFamily="18" charset="0"/>
              </a:rPr>
              <a:t>) and display the water quality on lcd.</a:t>
            </a:r>
          </a:p>
          <a:p>
            <a:endParaRPr lang="en-IN" dirty="0"/>
          </a:p>
        </p:txBody>
      </p:sp>
    </p:spTree>
    <p:extLst>
      <p:ext uri="{BB962C8B-B14F-4D97-AF65-F5344CB8AC3E}">
        <p14:creationId xmlns:p14="http://schemas.microsoft.com/office/powerpoint/2010/main" val="3132849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90F9-04F9-8BE7-13EF-7325AB4FAC31}"/>
              </a:ext>
            </a:extLst>
          </p:cNvPr>
          <p:cNvSpPr>
            <a:spLocks noGrp="1"/>
          </p:cNvSpPr>
          <p:nvPr>
            <p:ph type="title"/>
          </p:nvPr>
        </p:nvSpPr>
        <p:spPr>
          <a:xfrm>
            <a:off x="569020" y="892000"/>
            <a:ext cx="10364451" cy="1596177"/>
          </a:xfrm>
        </p:spPr>
        <p:txBody>
          <a:bodyPr/>
          <a:lstStyle/>
          <a:p>
            <a:r>
              <a:rPr lang="en-US" dirty="0">
                <a:latin typeface="Times New Roman" panose="02020603050405020304" pitchFamily="18" charset="0"/>
                <a:cs typeface="Times New Roman" panose="02020603050405020304" pitchFamily="18" charset="0"/>
              </a:rPr>
              <a:t>S</a:t>
            </a:r>
            <a:r>
              <a:rPr lang="en-IN" dirty="0" err="1">
                <a:latin typeface="Times New Roman" panose="02020603050405020304" pitchFamily="18" charset="0"/>
                <a:cs typeface="Times New Roman" panose="02020603050405020304" pitchFamily="18" charset="0"/>
              </a:rPr>
              <a:t>ystem</a:t>
            </a:r>
            <a:r>
              <a:rPr lang="en-IN" dirty="0">
                <a:latin typeface="Times New Roman" panose="02020603050405020304" pitchFamily="18" charset="0"/>
                <a:cs typeface="Times New Roman" panose="02020603050405020304" pitchFamily="18" charset="0"/>
              </a:rPr>
              <a:t> Architecture</a:t>
            </a:r>
          </a:p>
        </p:txBody>
      </p:sp>
      <p:sp>
        <p:nvSpPr>
          <p:cNvPr id="3" name="Content Placeholder 2">
            <a:extLst>
              <a:ext uri="{FF2B5EF4-FFF2-40B4-BE49-F238E27FC236}">
                <a16:creationId xmlns:a16="http://schemas.microsoft.com/office/drawing/2014/main" id="{15D7C81E-79BD-F02B-5890-4DCAA408A63F}"/>
              </a:ext>
            </a:extLst>
          </p:cNvPr>
          <p:cNvSpPr>
            <a:spLocks noGrp="1"/>
          </p:cNvSpPr>
          <p:nvPr>
            <p:ph sz="quarter" idx="13"/>
          </p:nvPr>
        </p:nvSpPr>
        <p:spPr>
          <a:xfrm>
            <a:off x="1111045" y="1690089"/>
            <a:ext cx="10363826" cy="3918598"/>
          </a:xfrm>
        </p:spPr>
        <p:txBody>
          <a:bodyPr>
            <a:normAutofit/>
          </a:bodyPr>
          <a:lstStyle/>
          <a:p>
            <a:pPr marL="0" indent="0">
              <a:buNone/>
            </a:pPr>
            <a:r>
              <a:rPr lang="en-IN" sz="3800" cap="none" dirty="0">
                <a:latin typeface="Times New Roman" panose="02020603050405020304" pitchFamily="18" charset="0"/>
                <a:cs typeface="Times New Roman" panose="02020603050405020304" pitchFamily="18" charset="0"/>
              </a:rPr>
              <a:t> </a:t>
            </a:r>
          </a:p>
          <a:p>
            <a:pPr marL="0" indent="0">
              <a:buNone/>
            </a:pPr>
            <a:endParaRPr lang="en-IN" dirty="0"/>
          </a:p>
          <a:p>
            <a:endParaRPr lang="en-IN" dirty="0"/>
          </a:p>
        </p:txBody>
      </p:sp>
      <p:pic>
        <p:nvPicPr>
          <p:cNvPr id="5" name="Picture 4">
            <a:extLst>
              <a:ext uri="{FF2B5EF4-FFF2-40B4-BE49-F238E27FC236}">
                <a16:creationId xmlns:a16="http://schemas.microsoft.com/office/drawing/2014/main" id="{7716F42C-957C-1764-A3D3-D1C768BFD878}"/>
              </a:ext>
            </a:extLst>
          </p:cNvPr>
          <p:cNvPicPr>
            <a:picLocks noChangeAspect="1"/>
          </p:cNvPicPr>
          <p:nvPr/>
        </p:nvPicPr>
        <p:blipFill>
          <a:blip r:embed="rId2"/>
          <a:stretch>
            <a:fillRect/>
          </a:stretch>
        </p:blipFill>
        <p:spPr>
          <a:xfrm>
            <a:off x="1524000" y="2212257"/>
            <a:ext cx="8787241" cy="4001729"/>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2CC7FB9-C2C1-0D39-45F3-B83E4ECC5F19}"/>
                  </a:ext>
                </a:extLst>
              </p14:cNvPr>
              <p14:cNvContentPartPr/>
              <p14:nvPr/>
            </p14:nvContentPartPr>
            <p14:xfrm>
              <a:off x="4444177" y="3765468"/>
              <a:ext cx="333360" cy="360"/>
            </p14:xfrm>
          </p:contentPart>
        </mc:Choice>
        <mc:Fallback xmlns="">
          <p:pic>
            <p:nvPicPr>
              <p:cNvPr id="6" name="Ink 5">
                <a:extLst>
                  <a:ext uri="{FF2B5EF4-FFF2-40B4-BE49-F238E27FC236}">
                    <a16:creationId xmlns:a16="http://schemas.microsoft.com/office/drawing/2014/main" id="{D2CC7FB9-C2C1-0D39-45F3-B83E4ECC5F19}"/>
                  </a:ext>
                </a:extLst>
              </p:cNvPr>
              <p:cNvPicPr/>
              <p:nvPr/>
            </p:nvPicPr>
            <p:blipFill>
              <a:blip r:embed="rId4"/>
              <a:stretch>
                <a:fillRect/>
              </a:stretch>
            </p:blipFill>
            <p:spPr>
              <a:xfrm>
                <a:off x="4439857" y="3761148"/>
                <a:ext cx="342000" cy="9000"/>
              </a:xfrm>
              <a:prstGeom prst="rect">
                <a:avLst/>
              </a:prstGeom>
            </p:spPr>
          </p:pic>
        </mc:Fallback>
      </mc:AlternateContent>
      <p:grpSp>
        <p:nvGrpSpPr>
          <p:cNvPr id="10" name="Group 9">
            <a:extLst>
              <a:ext uri="{FF2B5EF4-FFF2-40B4-BE49-F238E27FC236}">
                <a16:creationId xmlns:a16="http://schemas.microsoft.com/office/drawing/2014/main" id="{E326272D-7703-DEF1-8C16-56BB051C46CA}"/>
              </a:ext>
            </a:extLst>
          </p:cNvPr>
          <p:cNvGrpSpPr/>
          <p:nvPr/>
        </p:nvGrpSpPr>
        <p:grpSpPr>
          <a:xfrm>
            <a:off x="4641097" y="3696708"/>
            <a:ext cx="159120" cy="163800"/>
            <a:chOff x="4641097" y="3696708"/>
            <a:chExt cx="159120" cy="16380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05E198F0-9E87-98D9-04BD-D9B4B3045B34}"/>
                    </a:ext>
                  </a:extLst>
                </p14:cNvPr>
                <p14:cNvContentPartPr/>
                <p14:nvPr/>
              </p14:nvContentPartPr>
              <p14:xfrm>
                <a:off x="4670257" y="3696708"/>
                <a:ext cx="129960" cy="85320"/>
              </p14:xfrm>
            </p:contentPart>
          </mc:Choice>
          <mc:Fallback xmlns="">
            <p:pic>
              <p:nvPicPr>
                <p:cNvPr id="8" name="Ink 7">
                  <a:extLst>
                    <a:ext uri="{FF2B5EF4-FFF2-40B4-BE49-F238E27FC236}">
                      <a16:creationId xmlns:a16="http://schemas.microsoft.com/office/drawing/2014/main" id="{05E198F0-9E87-98D9-04BD-D9B4B3045B34}"/>
                    </a:ext>
                  </a:extLst>
                </p:cNvPr>
                <p:cNvPicPr/>
                <p:nvPr/>
              </p:nvPicPr>
              <p:blipFill>
                <a:blip r:embed="rId6"/>
                <a:stretch>
                  <a:fillRect/>
                </a:stretch>
              </p:blipFill>
              <p:spPr>
                <a:xfrm>
                  <a:off x="4665937" y="3692388"/>
                  <a:ext cx="1386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7AD9430-7A6B-FF6F-96F4-9046C4BE92C8}"/>
                    </a:ext>
                  </a:extLst>
                </p14:cNvPr>
                <p14:cNvContentPartPr/>
                <p14:nvPr/>
              </p14:nvContentPartPr>
              <p14:xfrm>
                <a:off x="4641097" y="3784908"/>
                <a:ext cx="137160" cy="75600"/>
              </p14:xfrm>
            </p:contentPart>
          </mc:Choice>
          <mc:Fallback xmlns="">
            <p:pic>
              <p:nvPicPr>
                <p:cNvPr id="9" name="Ink 8">
                  <a:extLst>
                    <a:ext uri="{FF2B5EF4-FFF2-40B4-BE49-F238E27FC236}">
                      <a16:creationId xmlns:a16="http://schemas.microsoft.com/office/drawing/2014/main" id="{07AD9430-7A6B-FF6F-96F4-9046C4BE92C8}"/>
                    </a:ext>
                  </a:extLst>
                </p:cNvPr>
                <p:cNvPicPr/>
                <p:nvPr/>
              </p:nvPicPr>
              <p:blipFill>
                <a:blip r:embed="rId8"/>
                <a:stretch>
                  <a:fillRect/>
                </a:stretch>
              </p:blipFill>
              <p:spPr>
                <a:xfrm>
                  <a:off x="4636777" y="3780588"/>
                  <a:ext cx="145800" cy="84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07F6A557-CE57-21F1-4033-AB33B279EB83}"/>
                  </a:ext>
                </a:extLst>
              </p14:cNvPr>
              <p14:cNvContentPartPr/>
              <p14:nvPr/>
            </p14:nvContentPartPr>
            <p14:xfrm>
              <a:off x="4463617" y="4493028"/>
              <a:ext cx="738000" cy="10440"/>
            </p14:xfrm>
          </p:contentPart>
        </mc:Choice>
        <mc:Fallback xmlns="">
          <p:pic>
            <p:nvPicPr>
              <p:cNvPr id="13" name="Ink 12">
                <a:extLst>
                  <a:ext uri="{FF2B5EF4-FFF2-40B4-BE49-F238E27FC236}">
                    <a16:creationId xmlns:a16="http://schemas.microsoft.com/office/drawing/2014/main" id="{07F6A557-CE57-21F1-4033-AB33B279EB83}"/>
                  </a:ext>
                </a:extLst>
              </p:cNvPr>
              <p:cNvPicPr/>
              <p:nvPr/>
            </p:nvPicPr>
            <p:blipFill>
              <a:blip r:embed="rId10"/>
              <a:stretch>
                <a:fillRect/>
              </a:stretch>
            </p:blipFill>
            <p:spPr>
              <a:xfrm>
                <a:off x="4459297" y="4488708"/>
                <a:ext cx="746640" cy="19080"/>
              </a:xfrm>
              <a:prstGeom prst="rect">
                <a:avLst/>
              </a:prstGeom>
            </p:spPr>
          </p:pic>
        </mc:Fallback>
      </mc:AlternateContent>
      <p:grpSp>
        <p:nvGrpSpPr>
          <p:cNvPr id="19" name="Group 18">
            <a:extLst>
              <a:ext uri="{FF2B5EF4-FFF2-40B4-BE49-F238E27FC236}">
                <a16:creationId xmlns:a16="http://schemas.microsoft.com/office/drawing/2014/main" id="{A748EF6C-BC9A-3174-D850-3C21C95BABAF}"/>
              </a:ext>
            </a:extLst>
          </p:cNvPr>
          <p:cNvGrpSpPr/>
          <p:nvPr/>
        </p:nvGrpSpPr>
        <p:grpSpPr>
          <a:xfrm>
            <a:off x="5116297" y="4198188"/>
            <a:ext cx="191160" cy="304200"/>
            <a:chOff x="5116297" y="4198188"/>
            <a:chExt cx="191160" cy="304200"/>
          </a:xfrm>
        </p:grpSpPr>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8606F2F5-BE19-3EC7-C75C-BBBA7B6FD430}"/>
                    </a:ext>
                  </a:extLst>
                </p14:cNvPr>
                <p14:cNvContentPartPr/>
                <p14:nvPr/>
              </p14:nvContentPartPr>
              <p14:xfrm>
                <a:off x="5210977" y="4217988"/>
                <a:ext cx="360" cy="284400"/>
              </p14:xfrm>
            </p:contentPart>
          </mc:Choice>
          <mc:Fallback xmlns="">
            <p:pic>
              <p:nvPicPr>
                <p:cNvPr id="14" name="Ink 13">
                  <a:extLst>
                    <a:ext uri="{FF2B5EF4-FFF2-40B4-BE49-F238E27FC236}">
                      <a16:creationId xmlns:a16="http://schemas.microsoft.com/office/drawing/2014/main" id="{8606F2F5-BE19-3EC7-C75C-BBBA7B6FD430}"/>
                    </a:ext>
                  </a:extLst>
                </p:cNvPr>
                <p:cNvPicPr/>
                <p:nvPr/>
              </p:nvPicPr>
              <p:blipFill>
                <a:blip r:embed="rId12"/>
                <a:stretch>
                  <a:fillRect/>
                </a:stretch>
              </p:blipFill>
              <p:spPr>
                <a:xfrm>
                  <a:off x="5206657" y="4213668"/>
                  <a:ext cx="90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E94469C2-52A5-29D5-FB0A-787D81CFE626}"/>
                    </a:ext>
                  </a:extLst>
                </p14:cNvPr>
                <p14:cNvContentPartPr/>
                <p14:nvPr/>
              </p14:nvContentPartPr>
              <p14:xfrm>
                <a:off x="5116297" y="4198188"/>
                <a:ext cx="95040" cy="110520"/>
              </p14:xfrm>
            </p:contentPart>
          </mc:Choice>
          <mc:Fallback xmlns="">
            <p:pic>
              <p:nvPicPr>
                <p:cNvPr id="15" name="Ink 14">
                  <a:extLst>
                    <a:ext uri="{FF2B5EF4-FFF2-40B4-BE49-F238E27FC236}">
                      <a16:creationId xmlns:a16="http://schemas.microsoft.com/office/drawing/2014/main" id="{E94469C2-52A5-29D5-FB0A-787D81CFE626}"/>
                    </a:ext>
                  </a:extLst>
                </p:cNvPr>
                <p:cNvPicPr/>
                <p:nvPr/>
              </p:nvPicPr>
              <p:blipFill>
                <a:blip r:embed="rId14"/>
                <a:stretch>
                  <a:fillRect/>
                </a:stretch>
              </p:blipFill>
              <p:spPr>
                <a:xfrm>
                  <a:off x="5111977" y="4193868"/>
                  <a:ext cx="1036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233DC8B0-21CF-4686-F1A8-621122508D90}"/>
                    </a:ext>
                  </a:extLst>
                </p14:cNvPr>
                <p14:cNvContentPartPr/>
                <p14:nvPr/>
              </p14:nvContentPartPr>
              <p14:xfrm>
                <a:off x="5201257" y="4198188"/>
                <a:ext cx="360" cy="360"/>
              </p14:xfrm>
            </p:contentPart>
          </mc:Choice>
          <mc:Fallback xmlns="">
            <p:pic>
              <p:nvPicPr>
                <p:cNvPr id="17" name="Ink 16">
                  <a:extLst>
                    <a:ext uri="{FF2B5EF4-FFF2-40B4-BE49-F238E27FC236}">
                      <a16:creationId xmlns:a16="http://schemas.microsoft.com/office/drawing/2014/main" id="{233DC8B0-21CF-4686-F1A8-621122508D90}"/>
                    </a:ext>
                  </a:extLst>
                </p:cNvPr>
                <p:cNvPicPr/>
                <p:nvPr/>
              </p:nvPicPr>
              <p:blipFill>
                <a:blip r:embed="rId16"/>
                <a:stretch>
                  <a:fillRect/>
                </a:stretch>
              </p:blipFill>
              <p:spPr>
                <a:xfrm>
                  <a:off x="5196937" y="4193868"/>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7ED5A376-7A5E-1929-A7B9-3B0B4BDA6A0C}"/>
                    </a:ext>
                  </a:extLst>
                </p14:cNvPr>
                <p14:cNvContentPartPr/>
                <p14:nvPr/>
              </p14:nvContentPartPr>
              <p14:xfrm>
                <a:off x="5201257" y="4198188"/>
                <a:ext cx="106200" cy="109440"/>
              </p14:xfrm>
            </p:contentPart>
          </mc:Choice>
          <mc:Fallback xmlns="">
            <p:pic>
              <p:nvPicPr>
                <p:cNvPr id="18" name="Ink 17">
                  <a:extLst>
                    <a:ext uri="{FF2B5EF4-FFF2-40B4-BE49-F238E27FC236}">
                      <a16:creationId xmlns:a16="http://schemas.microsoft.com/office/drawing/2014/main" id="{7ED5A376-7A5E-1929-A7B9-3B0B4BDA6A0C}"/>
                    </a:ext>
                  </a:extLst>
                </p:cNvPr>
                <p:cNvPicPr/>
                <p:nvPr/>
              </p:nvPicPr>
              <p:blipFill>
                <a:blip r:embed="rId18"/>
                <a:stretch>
                  <a:fillRect/>
                </a:stretch>
              </p:blipFill>
              <p:spPr>
                <a:xfrm>
                  <a:off x="5196937" y="4193868"/>
                  <a:ext cx="114840" cy="118080"/>
                </a:xfrm>
                <a:prstGeom prst="rect">
                  <a:avLst/>
                </a:prstGeom>
              </p:spPr>
            </p:pic>
          </mc:Fallback>
        </mc:AlternateContent>
      </p:grpSp>
    </p:spTree>
    <p:extLst>
      <p:ext uri="{BB962C8B-B14F-4D97-AF65-F5344CB8AC3E}">
        <p14:creationId xmlns:p14="http://schemas.microsoft.com/office/powerpoint/2010/main" val="1738734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43723-2C03-1951-E40C-9A6A111DF0B9}"/>
              </a:ext>
            </a:extLst>
          </p:cNvPr>
          <p:cNvSpPr>
            <a:spLocks noGrp="1"/>
          </p:cNvSpPr>
          <p:nvPr>
            <p:ph type="title"/>
          </p:nvPr>
        </p:nvSpPr>
        <p:spPr>
          <a:xfrm>
            <a:off x="412330" y="163600"/>
            <a:ext cx="10364451" cy="1596177"/>
          </a:xfrm>
        </p:spPr>
        <p:txBody>
          <a:bodyPr/>
          <a:lstStyle/>
          <a:p>
            <a:r>
              <a:rPr lang="en-IN" dirty="0">
                <a:latin typeface="Times New Roman" panose="02020603050405020304" pitchFamily="18" charset="0"/>
                <a:cs typeface="Times New Roman" panose="02020603050405020304" pitchFamily="18" charset="0"/>
              </a:rPr>
              <a:t> METHODOLOGY</a:t>
            </a:r>
          </a:p>
        </p:txBody>
      </p:sp>
      <p:sp>
        <p:nvSpPr>
          <p:cNvPr id="3" name="Content Placeholder 2">
            <a:extLst>
              <a:ext uri="{FF2B5EF4-FFF2-40B4-BE49-F238E27FC236}">
                <a16:creationId xmlns:a16="http://schemas.microsoft.com/office/drawing/2014/main" id="{BE5A867F-F454-5FB3-D87D-37CE0A4AC123}"/>
              </a:ext>
            </a:extLst>
          </p:cNvPr>
          <p:cNvSpPr>
            <a:spLocks noGrp="1"/>
          </p:cNvSpPr>
          <p:nvPr>
            <p:ph sz="quarter" idx="13"/>
          </p:nvPr>
        </p:nvSpPr>
        <p:spPr>
          <a:xfrm>
            <a:off x="1356226" y="1785924"/>
            <a:ext cx="10363826" cy="5072076"/>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Component Selection:</a:t>
            </a:r>
          </a:p>
          <a:p>
            <a:r>
              <a:rPr lang="en-US" sz="1800" b="1" cap="none" dirty="0">
                <a:latin typeface="Times New Roman" panose="02020603050405020304" pitchFamily="18" charset="0"/>
                <a:cs typeface="Times New Roman" panose="02020603050405020304" pitchFamily="18" charset="0"/>
              </a:rPr>
              <a:t>TDS Sensor t</a:t>
            </a:r>
            <a:r>
              <a:rPr lang="en-US" sz="1800" cap="none" dirty="0">
                <a:latin typeface="Times New Roman" panose="02020603050405020304" pitchFamily="18" charset="0"/>
                <a:cs typeface="Times New Roman" panose="02020603050405020304" pitchFamily="18" charset="0"/>
              </a:rPr>
              <a:t>o detect dissolved solids.</a:t>
            </a:r>
          </a:p>
          <a:p>
            <a:r>
              <a:rPr lang="en-US" sz="1800" b="1" cap="none" dirty="0">
                <a:latin typeface="Times New Roman" panose="02020603050405020304" pitchFamily="18" charset="0"/>
                <a:cs typeface="Times New Roman" panose="02020603050405020304" pitchFamily="18" charset="0"/>
              </a:rPr>
              <a:t>Ph Sensor</a:t>
            </a:r>
            <a:r>
              <a:rPr lang="en-US" sz="1800" cap="none" dirty="0">
                <a:latin typeface="Times New Roman" panose="02020603050405020304" pitchFamily="18" charset="0"/>
                <a:cs typeface="Times New Roman" panose="02020603050405020304" pitchFamily="18" charset="0"/>
              </a:rPr>
              <a:t> to measure acidity or alkalinity.</a:t>
            </a:r>
          </a:p>
          <a:p>
            <a:r>
              <a:rPr lang="en-IN" sz="1800" b="1" cap="none" dirty="0">
                <a:latin typeface="Times New Roman" panose="02020603050405020304" pitchFamily="18" charset="0"/>
                <a:cs typeface="Times New Roman" panose="02020603050405020304" pitchFamily="18" charset="0"/>
              </a:rPr>
              <a:t>Temperature Sensor</a:t>
            </a:r>
            <a:r>
              <a:rPr lang="en-IN" sz="1800" cap="none" dirty="0">
                <a:latin typeface="Times New Roman" panose="02020603050405020304" pitchFamily="18" charset="0"/>
                <a:cs typeface="Times New Roman" panose="02020603050405020304" pitchFamily="18" charset="0"/>
              </a:rPr>
              <a:t> to monitor water temperature.</a:t>
            </a:r>
          </a:p>
          <a:p>
            <a:r>
              <a:rPr lang="en-IN" sz="1800" cap="none" dirty="0">
                <a:latin typeface="Times New Roman" panose="02020603050405020304" pitchFamily="18" charset="0"/>
                <a:cs typeface="Times New Roman" panose="02020603050405020304" pitchFamily="18" charset="0"/>
              </a:rPr>
              <a:t>Select a </a:t>
            </a:r>
            <a:r>
              <a:rPr lang="en-IN" sz="1800" b="1" cap="none" dirty="0">
                <a:latin typeface="Times New Roman" panose="02020603050405020304" pitchFamily="18" charset="0"/>
                <a:cs typeface="Times New Roman" panose="02020603050405020304" pitchFamily="18" charset="0"/>
              </a:rPr>
              <a:t>microcontroller</a:t>
            </a:r>
            <a:r>
              <a:rPr lang="en-IN" sz="1800" cap="none" dirty="0">
                <a:latin typeface="Times New Roman" panose="02020603050405020304" pitchFamily="18" charset="0"/>
                <a:cs typeface="Times New Roman" panose="02020603050405020304" pitchFamily="18" charset="0"/>
              </a:rPr>
              <a:t> (E.G., Arduino Or ESP32) to process sensor data.</a:t>
            </a:r>
          </a:p>
          <a:p>
            <a:r>
              <a:rPr lang="en-US" sz="1800" cap="none" dirty="0">
                <a:latin typeface="Times New Roman" panose="02020603050405020304" pitchFamily="18" charset="0"/>
                <a:cs typeface="Times New Roman" panose="02020603050405020304" pitchFamily="18" charset="0"/>
              </a:rPr>
              <a:t>Include a </a:t>
            </a:r>
            <a:r>
              <a:rPr lang="en-US" sz="1800" b="1" cap="none" dirty="0">
                <a:latin typeface="Times New Roman" panose="02020603050405020304" pitchFamily="18" charset="0"/>
                <a:cs typeface="Times New Roman" panose="02020603050405020304" pitchFamily="18" charset="0"/>
              </a:rPr>
              <a:t>digital display</a:t>
            </a:r>
            <a:r>
              <a:rPr lang="en-US" sz="1800" cap="none" dirty="0">
                <a:latin typeface="Times New Roman" panose="02020603050405020304" pitchFamily="18" charset="0"/>
                <a:cs typeface="Times New Roman" panose="02020603050405020304" pitchFamily="18" charset="0"/>
              </a:rPr>
              <a:t> (E.G., OLED Or LCD) to show real-time results.</a:t>
            </a:r>
          </a:p>
          <a:p>
            <a:pPr marL="0" indent="0">
              <a:buNone/>
            </a:pPr>
            <a:endParaRPr lang="en-IN" sz="1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421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AB90-F8DC-BAA5-6F5F-BF84404E19FE}"/>
              </a:ext>
            </a:extLst>
          </p:cNvPr>
          <p:cNvSpPr>
            <a:spLocks noGrp="1"/>
          </p:cNvSpPr>
          <p:nvPr>
            <p:ph type="title"/>
          </p:nvPr>
        </p:nvSpPr>
        <p:spPr>
          <a:xfrm>
            <a:off x="726962" y="431704"/>
            <a:ext cx="10364451" cy="1596177"/>
          </a:xfrm>
        </p:spPr>
        <p:txBody>
          <a:bodyPr/>
          <a:lstStyle/>
          <a:p>
            <a:r>
              <a:rPr lang="en-IN" dirty="0">
                <a:latin typeface="Times New Roman" panose="02020603050405020304" pitchFamily="18" charset="0"/>
                <a:cs typeface="Times New Roman" panose="02020603050405020304" pitchFamily="18" charset="0"/>
              </a:rPr>
              <a:t>results</a:t>
            </a:r>
          </a:p>
        </p:txBody>
      </p:sp>
      <p:pic>
        <p:nvPicPr>
          <p:cNvPr id="4" name="Image 11">
            <a:extLst>
              <a:ext uri="{FF2B5EF4-FFF2-40B4-BE49-F238E27FC236}">
                <a16:creationId xmlns:a16="http://schemas.microsoft.com/office/drawing/2014/main" id="{8551252E-D39A-6D10-C549-EC4F8236F7DE}"/>
              </a:ext>
            </a:extLst>
          </p:cNvPr>
          <p:cNvPicPr>
            <a:picLocks noGrp="1"/>
          </p:cNvPicPr>
          <p:nvPr>
            <p:ph sz="quarter" idx="13"/>
          </p:nvPr>
        </p:nvPicPr>
        <p:blipFill>
          <a:blip r:embed="rId2" cstate="print"/>
          <a:stretch>
            <a:fillRect/>
          </a:stretch>
        </p:blipFill>
        <p:spPr>
          <a:xfrm>
            <a:off x="4585490" y="2027881"/>
            <a:ext cx="2785046" cy="3424237"/>
          </a:xfrm>
          <a:prstGeom prst="rect">
            <a:avLst/>
          </a:prstGeom>
        </p:spPr>
      </p:pic>
    </p:spTree>
    <p:extLst>
      <p:ext uri="{BB962C8B-B14F-4D97-AF65-F5344CB8AC3E}">
        <p14:creationId xmlns:p14="http://schemas.microsoft.com/office/powerpoint/2010/main" val="354940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2">
            <a:extLst>
              <a:ext uri="{FF2B5EF4-FFF2-40B4-BE49-F238E27FC236}">
                <a16:creationId xmlns:a16="http://schemas.microsoft.com/office/drawing/2014/main" id="{3FFC0F9E-FFFB-81F9-2467-51BEB23CD853}"/>
              </a:ext>
            </a:extLst>
          </p:cNvPr>
          <p:cNvPicPr>
            <a:picLocks/>
          </p:cNvPicPr>
          <p:nvPr/>
        </p:nvPicPr>
        <p:blipFill>
          <a:blip r:embed="rId2" cstate="print"/>
          <a:stretch>
            <a:fillRect/>
          </a:stretch>
        </p:blipFill>
        <p:spPr>
          <a:xfrm>
            <a:off x="4836620" y="1531221"/>
            <a:ext cx="2518759" cy="3424237"/>
          </a:xfrm>
          <a:prstGeom prst="rect">
            <a:avLst/>
          </a:prstGeom>
        </p:spPr>
      </p:pic>
    </p:spTree>
    <p:extLst>
      <p:ext uri="{BB962C8B-B14F-4D97-AF65-F5344CB8AC3E}">
        <p14:creationId xmlns:p14="http://schemas.microsoft.com/office/powerpoint/2010/main" val="208904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FF6A-E9A9-56B9-DC33-936EA9BECE65}"/>
              </a:ext>
            </a:extLst>
          </p:cNvPr>
          <p:cNvSpPr>
            <a:spLocks noGrp="1"/>
          </p:cNvSpPr>
          <p:nvPr>
            <p:ph type="title"/>
          </p:nvPr>
        </p:nvSpPr>
        <p:spPr>
          <a:xfrm>
            <a:off x="657515" y="216310"/>
            <a:ext cx="10364451" cy="1596177"/>
          </a:xfrm>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DBFBFB3-3161-6337-C755-4D8A7531D5E5}"/>
              </a:ext>
            </a:extLst>
          </p:cNvPr>
          <p:cNvSpPr>
            <a:spLocks noGrp="1"/>
          </p:cNvSpPr>
          <p:nvPr>
            <p:ph sz="quarter" idx="13"/>
          </p:nvPr>
        </p:nvSpPr>
        <p:spPr>
          <a:xfrm>
            <a:off x="1045079" y="1703227"/>
            <a:ext cx="10363826" cy="4322329"/>
          </a:xfrm>
        </p:spPr>
        <p:txBody>
          <a:bodyPr>
            <a:normAutofit/>
          </a:bodyPr>
          <a:lstStyle/>
          <a:p>
            <a:pPr marL="0" indent="0">
              <a:buNone/>
            </a:pPr>
            <a:r>
              <a:rPr lang="en-US" sz="1800" cap="none" dirty="0">
                <a:latin typeface="Times New Roman" panose="02020603050405020304" pitchFamily="18" charset="0"/>
                <a:cs typeface="Times New Roman" panose="02020603050405020304" pitchFamily="18" charset="0"/>
              </a:rPr>
              <a:t>This smart water quality monitoring bottle provides a simple and portable way to check the safety of drinking water. By displaying real-time TDS, pH, and temperature values, it helps users make informed decisions, especially in uncertain or outdoor environments. The system is compact, easy to use, and useful for promoting safe and healthy hydration habits.</a:t>
            </a:r>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07967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27BC-2CD7-D832-5402-FFBBE0F85DCE}"/>
              </a:ext>
            </a:extLst>
          </p:cNvPr>
          <p:cNvSpPr>
            <a:spLocks noGrp="1"/>
          </p:cNvSpPr>
          <p:nvPr>
            <p:ph type="title"/>
          </p:nvPr>
        </p:nvSpPr>
        <p:spPr>
          <a:xfrm>
            <a:off x="348607" y="408431"/>
            <a:ext cx="10364451" cy="1596177"/>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C7D6E32-8F2B-E6D7-7B00-7DE2F8416B11}"/>
              </a:ext>
            </a:extLst>
          </p:cNvPr>
          <p:cNvSpPr>
            <a:spLocks noGrp="1"/>
          </p:cNvSpPr>
          <p:nvPr>
            <p:ph sz="quarter" idx="13"/>
          </p:nvPr>
        </p:nvSpPr>
        <p:spPr>
          <a:xfrm>
            <a:off x="914087" y="2089299"/>
            <a:ext cx="10363826" cy="3424107"/>
          </a:xfrm>
        </p:spPr>
        <p:txBody>
          <a:bodyPr/>
          <a:lstStyle/>
          <a:p>
            <a:r>
              <a:rPr lang="en-US" sz="1800" b="1" cap="none" dirty="0">
                <a:latin typeface="Times New Roman" panose="02020603050405020304" pitchFamily="18" charset="0"/>
                <a:cs typeface="Times New Roman" panose="02020603050405020304" pitchFamily="18" charset="0"/>
              </a:rPr>
              <a:t>“</a:t>
            </a:r>
            <a:r>
              <a:rPr lang="en-US" sz="1800" b="1" cap="none" dirty="0" err="1">
                <a:latin typeface="Times New Roman" panose="02020603050405020304" pitchFamily="18" charset="0"/>
                <a:cs typeface="Times New Roman" panose="02020603050405020304" pitchFamily="18" charset="0"/>
              </a:rPr>
              <a:t>Iot</a:t>
            </a:r>
            <a:r>
              <a:rPr lang="en-US" sz="1800" b="1" cap="none" dirty="0">
                <a:latin typeface="Times New Roman" panose="02020603050405020304" pitchFamily="18" charset="0"/>
                <a:cs typeface="Times New Roman" panose="02020603050405020304" pitchFamily="18" charset="0"/>
              </a:rPr>
              <a:t> based smart water quality monitoring system”,</a:t>
            </a:r>
            <a:r>
              <a:rPr lang="en-IN" sz="1800" b="1" cap="none" dirty="0">
                <a:latin typeface="Times New Roman" panose="02020603050405020304" pitchFamily="18" charset="0"/>
                <a:cs typeface="Times New Roman" panose="02020603050405020304" pitchFamily="18" charset="0"/>
              </a:rPr>
              <a:t> </a:t>
            </a:r>
            <a:r>
              <a:rPr lang="en-IN" sz="1800" cap="none" dirty="0">
                <a:latin typeface="Times New Roman" panose="02020603050405020304" pitchFamily="18" charset="0"/>
                <a:cs typeface="Times New Roman" panose="02020603050405020304" pitchFamily="18" charset="0"/>
              </a:rPr>
              <a:t>Varsha </a:t>
            </a:r>
            <a:r>
              <a:rPr lang="en-IN" sz="1800" cap="none" dirty="0" err="1">
                <a:latin typeface="Times New Roman" panose="02020603050405020304" pitchFamily="18" charset="0"/>
                <a:cs typeface="Times New Roman" panose="02020603050405020304" pitchFamily="18" charset="0"/>
              </a:rPr>
              <a:t>lakshmikantha</a:t>
            </a:r>
            <a:r>
              <a:rPr lang="en-IN" sz="1800" cap="none" dirty="0">
                <a:latin typeface="Times New Roman" panose="02020603050405020304" pitchFamily="18" charset="0"/>
                <a:cs typeface="Times New Roman" panose="02020603050405020304" pitchFamily="18" charset="0"/>
              </a:rPr>
              <a:t>, </a:t>
            </a:r>
            <a:r>
              <a:rPr lang="en-IN" sz="1800" cap="none" dirty="0" err="1">
                <a:latin typeface="Times New Roman" panose="02020603050405020304" pitchFamily="18" charset="0"/>
                <a:cs typeface="Times New Roman" panose="02020603050405020304" pitchFamily="18" charset="0"/>
              </a:rPr>
              <a:t>anjitha</a:t>
            </a:r>
            <a:r>
              <a:rPr lang="en-IN" sz="1800" cap="none" dirty="0">
                <a:latin typeface="Times New Roman" panose="02020603050405020304" pitchFamily="18" charset="0"/>
                <a:cs typeface="Times New Roman" panose="02020603050405020304" pitchFamily="18" charset="0"/>
              </a:rPr>
              <a:t> </a:t>
            </a:r>
            <a:r>
              <a:rPr lang="en-IN" sz="1800" cap="none" dirty="0" err="1">
                <a:latin typeface="Times New Roman" panose="02020603050405020304" pitchFamily="18" charset="0"/>
                <a:cs typeface="Times New Roman" panose="02020603050405020304" pitchFamily="18" charset="0"/>
              </a:rPr>
              <a:t>hiriyannagowda</a:t>
            </a:r>
            <a:r>
              <a:rPr lang="en-IN" sz="1800" cap="none" dirty="0">
                <a:latin typeface="Times New Roman" panose="02020603050405020304" pitchFamily="18" charset="0"/>
                <a:cs typeface="Times New Roman" panose="02020603050405020304" pitchFamily="18" charset="0"/>
              </a:rPr>
              <a:t>, </a:t>
            </a:r>
            <a:r>
              <a:rPr lang="en-US" sz="1800" i="1" cap="none" dirty="0">
                <a:latin typeface="Times New Roman" panose="02020603050405020304" pitchFamily="18" charset="0"/>
                <a:cs typeface="Times New Roman" panose="02020603050405020304" pitchFamily="18" charset="0"/>
              </a:rPr>
              <a:t>international journal of engineering research &amp; technology (IJERT).</a:t>
            </a:r>
          </a:p>
          <a:p>
            <a:r>
              <a:rPr lang="en-US" sz="1800" b="1" kern="1200" cap="none" dirty="0">
                <a:solidFill>
                  <a:schemeClr val="dk1"/>
                </a:solidFill>
                <a:effectLst/>
                <a:latin typeface="Times New Roman" panose="02020603050405020304" pitchFamily="18" charset="0"/>
                <a:ea typeface="+mn-ea"/>
                <a:cs typeface="Times New Roman" panose="02020603050405020304" pitchFamily="18" charset="0"/>
              </a:rPr>
              <a:t>“Design and development of multi purpose smart water bottle</a:t>
            </a:r>
            <a:r>
              <a:rPr lang="en-US" sz="1800" b="1" kern="1200" cap="none" dirty="0">
                <a:effectLst/>
                <a:latin typeface="Times New Roman" panose="02020603050405020304" pitchFamily="18" charset="0"/>
                <a:cs typeface="Times New Roman" panose="02020603050405020304" pitchFamily="18" charset="0"/>
              </a:rPr>
              <a:t> ”,</a:t>
            </a:r>
            <a:r>
              <a:rPr lang="en-US" sz="1800" kern="1200" cap="none" dirty="0">
                <a:effectLst/>
                <a:latin typeface="Times New Roman" panose="02020603050405020304" pitchFamily="18" charset="0"/>
                <a:cs typeface="Times New Roman" panose="02020603050405020304" pitchFamily="18" charset="0"/>
              </a:rPr>
              <a:t>NAMRATA </a:t>
            </a:r>
            <a:r>
              <a:rPr lang="en-US" sz="1800" cap="none" dirty="0">
                <a:latin typeface="Times New Roman" panose="02020603050405020304" pitchFamily="18" charset="0"/>
                <a:cs typeface="Times New Roman" panose="02020603050405020304" pitchFamily="18" charset="0"/>
              </a:rPr>
              <a:t>S</a:t>
            </a:r>
            <a:r>
              <a:rPr lang="en-US" sz="1800" kern="1200" cap="none" dirty="0">
                <a:effectLst/>
                <a:latin typeface="Times New Roman" panose="02020603050405020304" pitchFamily="18" charset="0"/>
                <a:cs typeface="Times New Roman" panose="02020603050405020304" pitchFamily="18" charset="0"/>
              </a:rPr>
              <a:t>WARGARI</a:t>
            </a:r>
            <a:r>
              <a:rPr lang="en-US" sz="1800" b="1" cap="none" dirty="0">
                <a:latin typeface="Times New Roman" panose="02020603050405020304" pitchFamily="18" charset="0"/>
                <a:cs typeface="Times New Roman" panose="02020603050405020304" pitchFamily="18" charset="0"/>
              </a:rPr>
              <a:t> (2020).</a:t>
            </a:r>
            <a:endParaRPr lang="en-US" sz="1800" kern="1200" cap="none" dirty="0">
              <a:effectLst/>
              <a:latin typeface="Times New Roman" panose="02020603050405020304" pitchFamily="18" charset="0"/>
              <a:cs typeface="Times New Roman" panose="02020603050405020304" pitchFamily="18" charset="0"/>
            </a:endParaRPr>
          </a:p>
          <a:p>
            <a:pPr marL="0" indent="0">
              <a:buNone/>
            </a:pPr>
            <a:r>
              <a:rPr lang="en-US" sz="1800" cap="none" dirty="0">
                <a:latin typeface="Times New Roman" panose="02020603050405020304" pitchFamily="18" charset="0"/>
                <a:cs typeface="Times New Roman" panose="02020603050405020304" pitchFamily="18" charset="0"/>
              </a:rPr>
              <a:t>   </a:t>
            </a:r>
            <a:r>
              <a:rPr lang="en-US" sz="1800" kern="1200" cap="none" dirty="0">
                <a:effectLst/>
                <a:latin typeface="Times New Roman" panose="02020603050405020304" pitchFamily="18" charset="0"/>
                <a:cs typeface="Times New Roman" panose="02020603050405020304" pitchFamily="18" charset="0"/>
              </a:rPr>
              <a:t> </a:t>
            </a:r>
            <a:r>
              <a:rPr lang="en-US" sz="1800" i="1" cap="none" dirty="0">
                <a:latin typeface="Times New Roman" panose="02020603050405020304" pitchFamily="18" charset="0"/>
                <a:cs typeface="Times New Roman" panose="02020603050405020304" pitchFamily="18" charset="0"/>
              </a:rPr>
              <a:t>journal of environmental management.</a:t>
            </a:r>
          </a:p>
          <a:p>
            <a:r>
              <a:rPr lang="en-US" sz="1800" b="1" cap="none" dirty="0">
                <a:latin typeface="Times New Roman" panose="02020603050405020304" pitchFamily="18" charset="0"/>
                <a:cs typeface="Times New Roman" panose="02020603050405020304" pitchFamily="18" charset="0"/>
              </a:rPr>
              <a:t>"</a:t>
            </a:r>
            <a:r>
              <a:rPr lang="en-US" sz="1800" b="1" kern="1200" cap="none" dirty="0">
                <a:effectLst/>
                <a:latin typeface="Times New Roman" panose="02020603050405020304" pitchFamily="18" charset="0"/>
                <a:cs typeface="Times New Roman" panose="02020603050405020304" pitchFamily="18" charset="0"/>
              </a:rPr>
              <a:t>Photovoltaic bottle with multiple features using solar module</a:t>
            </a:r>
            <a:r>
              <a:rPr lang="en-US" sz="1800" b="1" cap="none" dirty="0">
                <a:latin typeface="Times New Roman" panose="02020603050405020304" pitchFamily="18" charset="0"/>
                <a:cs typeface="Times New Roman" panose="02020603050405020304" pitchFamily="18" charset="0"/>
              </a:rPr>
              <a:t>" </a:t>
            </a:r>
            <a:r>
              <a:rPr lang="en-US" sz="1800" kern="1200" cap="none" dirty="0">
                <a:effectLst/>
                <a:latin typeface="Times New Roman" panose="02020603050405020304" pitchFamily="18" charset="0"/>
                <a:cs typeface="Times New Roman" panose="02020603050405020304" pitchFamily="18" charset="0"/>
              </a:rPr>
              <a:t>SUPRIYA TELSANG</a:t>
            </a:r>
            <a:r>
              <a:rPr lang="en-US" sz="1800" b="1" cap="none" dirty="0">
                <a:latin typeface="Times New Roman" panose="02020603050405020304" pitchFamily="18" charset="0"/>
                <a:cs typeface="Times New Roman" panose="02020603050405020304" pitchFamily="18" charset="0"/>
              </a:rPr>
              <a:t>. (2021).</a:t>
            </a:r>
            <a:r>
              <a:rPr lang="en-US" sz="1800" cap="none" dirty="0">
                <a:latin typeface="Times New Roman" panose="02020603050405020304" pitchFamily="18" charset="0"/>
                <a:cs typeface="Times New Roman" panose="02020603050405020304" pitchFamily="18" charset="0"/>
              </a:rPr>
              <a:t> </a:t>
            </a:r>
            <a:endParaRPr lang="en-IN" sz="1800" cap="none"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99646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6372-ABC5-7449-9A46-A3D7DAD19F3D}"/>
              </a:ext>
            </a:extLst>
          </p:cNvPr>
          <p:cNvSpPr>
            <a:spLocks noGrp="1"/>
          </p:cNvSpPr>
          <p:nvPr>
            <p:ph type="title"/>
          </p:nvPr>
        </p:nvSpPr>
        <p:spPr>
          <a:xfrm>
            <a:off x="579479" y="2024529"/>
            <a:ext cx="10364451" cy="1596177"/>
          </a:xfrm>
        </p:spPr>
        <p:txBody>
          <a:bodyPr>
            <a:normAutofit/>
          </a:bodyPr>
          <a:lstStyle/>
          <a:p>
            <a:r>
              <a:rPr 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550873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404</TotalTime>
  <Words>1006</Words>
  <Application>Microsoft Office PowerPoint</Application>
  <PresentationFormat>Widescreen</PresentationFormat>
  <Paragraphs>98</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Tw Cen MT</vt:lpstr>
      <vt:lpstr>Droplet</vt:lpstr>
      <vt:lpstr>"Smart Water Quality Monitoring Bottle"</vt:lpstr>
      <vt:lpstr>Contents </vt:lpstr>
      <vt:lpstr>ABSTRACT</vt:lpstr>
      <vt:lpstr>INTRODUCTION</vt:lpstr>
      <vt:lpstr>LITERATURE SURVEY</vt:lpstr>
      <vt:lpstr>PowerPoint Presentation</vt:lpstr>
      <vt:lpstr>EXISTING SYSTEM</vt:lpstr>
      <vt:lpstr>LIMITATIONS</vt:lpstr>
      <vt:lpstr>Problem statement</vt:lpstr>
      <vt:lpstr>SOFTWARE &amp; HARDWARE REQUIREMENTS</vt:lpstr>
      <vt:lpstr>PROPOSED SYSTEM</vt:lpstr>
      <vt:lpstr>System Architecture</vt:lpstr>
      <vt:lpstr> METHODOLOGY</vt:lpstr>
      <vt:lpstr>results</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karre.pranathi04@gmail.com</dc:creator>
  <cp:lastModifiedBy>karre.pranathi04@gmail.com</cp:lastModifiedBy>
  <cp:revision>11</cp:revision>
  <dcterms:created xsi:type="dcterms:W3CDTF">2025-03-18T04:07:59Z</dcterms:created>
  <dcterms:modified xsi:type="dcterms:W3CDTF">2025-05-16T18:15:17Z</dcterms:modified>
</cp:coreProperties>
</file>